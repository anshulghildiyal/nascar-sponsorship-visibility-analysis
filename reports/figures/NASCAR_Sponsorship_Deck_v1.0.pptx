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Race Type</c:v>
                </c:pt>
              </c:strCache>
            </c:strRef>
          </c:tx>
          <c:spPr>
            <a:solidFill>
              <a:srgbClr val="F4A700"/>
            </a:solidFill>
            <a:effectLst/>
          </c:spPr>
          <c:invertIfNegative val="0"/>
          <c:dLbls>
            <c:numFmt formatCode="#,##0" sourceLinked="0"/>
            <c:txPr>
              <a:bodyPr/>
              <a:lstStyle/>
              <a:p>
                <a:pPr>
                  <a:defRPr b="0" i="0" strike="noStrike" sz="1400" u="none">
                    <a:solidFill>
                      <a:srgbClr val="1B3A5C"/>
                    </a:solidFill>
                    <a:latin typeface="Arial"/>
                  </a:defRPr>
                </a:pPr>
              </a:p>
            </c:txPr>
            <c:showLegendKey val="0"/>
            <c:showVal val="1"/>
            <c:showCatName val="0"/>
            <c:showSerName val="0"/>
            <c:showPercent val="0"/>
            <c:showBubbleSize val="0"/>
            <c:showLeaderLines val="0"/>
          </c:dLbls>
          <c:dPt>
            <c:idx val="0"/>
            <c:invertIfNegative val="0"/>
            <c:bubble3D val="0"/>
            <c:spPr>
              <a:solidFill>
                <a:srgbClr val="F4A700"/>
              </a:solidFill>
              <a:effectLst/>
            </c:spPr>
          </c:dPt>
          <c:dPt>
            <c:idx val="1"/>
            <c:invertIfNegative val="0"/>
            <c:bubble3D val="0"/>
            <c:spPr>
              <a:solidFill>
                <a:srgbClr val="BDD4E7"/>
              </a:solidFill>
              <a:effectLst/>
            </c:spPr>
          </c:dPt>
          <c:cat>
            <c:multiLvlStrRef>
              <c:f>Sheet1!$A$2:$A$3</c:f>
              <c:multiLvlStrCache>
                <c:ptCount val="2"/>
                <c:lvl>
                  <c:pt idx="0">
                    <c:v>Win Race</c:v>
                  </c:pt>
                  <c:pt idx="1">
                    <c:v>Top-10 Race</c:v>
                  </c:pt>
                </c:lvl>
              </c:multiLvlStrCache>
            </c:multiLvlStrRef>
          </c:cat>
          <c:val>
            <c:numRef>
              <c:f>Sheet1!$B$2:$B$3</c:f>
              <c:numCache>
                <c:formatCode>General</c:formatCode>
                <c:ptCount val="2"/>
                <c:pt idx="0">
                  <c:v>9</c:v>
                </c:pt>
                <c:pt idx="1">
                  <c:v>1</c:v>
                </c:pt>
              </c:numCache>
            </c:numRef>
          </c:val>
        </c:ser>
        <c:dLbls>
          <c:numFmt formatCode="#,##0" sourceLinked="0"/>
          <c:txPr>
            <a:bodyPr/>
            <a:lstStyle/>
            <a:p>
              <a:pPr>
                <a:defRPr b="0" i="0" strike="noStrike" sz="1400" u="none">
                  <a:solidFill>
                    <a:srgbClr val="1B3A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Sponsors</c:v>
                </c:pt>
              </c:strCache>
            </c:strRef>
          </c:tx>
          <c:spPr>
            <a:solidFill>
              <a:srgbClr val="1B3A5C"/>
            </a:solidFill>
            <a:ln w="25400" cap="flat">
              <a:solidFill>
                <a:srgbClr val="1B3A5C"/>
              </a:solidFill>
              <a:prstDash val="solid"/>
              <a:round/>
            </a:ln>
            <a:effectLst/>
          </c:spPr>
          <c:marker>
            <c:symbol val="circle"/>
            <c:size val="6"/>
            <c:spPr>
              <a:solidFill>
                <a:srgbClr val="1B3A5C"/>
              </a:solidFill>
              <a:ln w="9525" cap="flat">
                <a:solidFill>
                  <a:srgbClr val="1B3A5C"/>
                </a:solidFill>
                <a:prstDash val="solid"/>
                <a:round/>
              </a:ln>
              <a:effectLst/>
            </c:spPr>
          </c:marker>
          <c:xVal>
            <c:numRef>
              <c:f>Sheet1!$A$2:$A$6</c:f>
              <c:numCache>
                <c:formatCode>General</c:formatCode>
                <c:ptCount val="5"/>
                <c:pt idx="0">
                  <c:v>22</c:v>
                </c:pt>
                <c:pt idx="1">
                  <c:v>17.5</c:v>
                </c:pt>
                <c:pt idx="2">
                  <c:v>11</c:v>
                </c:pt>
                <c:pt idx="3">
                  <c:v>5.5</c:v>
                </c:pt>
                <c:pt idx="4">
                  <c:v>6</c:v>
                </c:pt>
              </c:numCache>
            </c:numRef>
          </c:xVal>
          <c:yVal>
            <c:numRef>
              <c:f>Sheet1!$B$2:$B$6</c:f>
              <c:numCache>
                <c:formatCode>General</c:formatCode>
                <c:ptCount val="5"/>
                <c:pt idx="0">
                  <c:v>1363</c:v>
                </c:pt>
                <c:pt idx="1">
                  <c:v>1343</c:v>
                </c:pt>
                <c:pt idx="2">
                  <c:v>853</c:v>
                </c:pt>
                <c:pt idx="3">
                  <c:v>451</c:v>
                </c:pt>
                <c:pt idx="4">
                  <c:v>410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Est. Annual Cost ($M)</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1A1A2E"/>
                </a:solidFill>
                <a:latin typeface="Arial"/>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Visibility Score (pts)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1A1A2E"/>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out loud: 'We set out to answer a question the NASCAR industry has never answered with data: which sponsors actually get what they pay for?' Pause. Let it land. Then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give you the punchline before the story. Three weeks of data analysis, 180 race-sponsor records, 8 correlation tests — all point to the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is what makes this replicable. These findings aren't opinions — they're outputs from a validated model that passed 6 of 6 integrity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transparent upfront. The race data, social data, and media data are solid. The one area of uncertainty is costs — and I'll show you that even with that uncertainty, the conclusions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our biggest surprise. We assumed finishing position would drive visibility. It doesn't — not as much as being at the front mid-race. Camera time is cumulative. A win is a spike. Laps led is a sustained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driver wins, it isn't just a better result — it's a category of event. News desks cover it, fans post about it, YouTube algorithms promote it. This is why the top two sponsors both pulled 1,300+ season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NAPA is the prestige option. It has the highest score. It also has the lowest return per dollar. That gap is $4.5M a year for 20 additional visibility points. That's not a bargain — it's a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three equal options. Monster Energy is the recommendation. The other two exist for different budget realities or board mandates.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 this is a decision framework, not a formula. The data tells you what each path costs. The strategy tells you which path fits your mandate.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'I'll close with this — we built something NY Racing can use every year. Run it again in 2025. Run it on new sponsors. The model is yours. Now — what questions do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rot="-900000">
            <a:off x="5669280" y="-274320"/>
            <a:ext cx="4572000" cy="164592"/>
          </a:xfrm>
          <a:prstGeom prst="rect">
            <a:avLst/>
          </a:prstGeom>
          <a:solidFill>
            <a:srgbClr val="26A69A">
              <a:alpha val="30000"/>
            </a:srgbClr>
          </a:solidFill>
          <a:ln/>
        </p:spPr>
      </p:sp>
      <p:sp>
        <p:nvSpPr>
          <p:cNvPr id="3" name="Shape 1"/>
          <p:cNvSpPr/>
          <p:nvPr/>
        </p:nvSpPr>
        <p:spPr>
          <a:xfrm rot="-900000">
            <a:off x="6217920" y="182880"/>
            <a:ext cx="3657600" cy="91440"/>
          </a:xfrm>
          <a:prstGeom prst="rect">
            <a:avLst/>
          </a:prstGeom>
          <a:solidFill>
            <a:srgbClr val="26A69A">
              <a:alpha val="20000"/>
            </a:srgbClr>
          </a:solidFill>
          <a:ln/>
        </p:spPr>
      </p:sp>
      <p:sp>
        <p:nvSpPr>
          <p:cNvPr id="4" name="Shape 2"/>
          <p:cNvSpPr/>
          <p:nvPr/>
        </p:nvSpPr>
        <p:spPr>
          <a:xfrm rot="-900000">
            <a:off x="6583680" y="548640"/>
            <a:ext cx="3200400" cy="54864"/>
          </a:xfrm>
          <a:prstGeom prst="rect">
            <a:avLst/>
          </a:prstGeom>
          <a:solidFill>
            <a:srgbClr val="F4A700">
              <a:alpha val="40000"/>
            </a:srgbClr>
          </a:solidFill>
          <a:ln/>
        </p:spPr>
      </p:sp>
      <p:sp>
        <p:nvSpPr>
          <p:cNvPr id="5" name="Shape 3"/>
          <p:cNvSpPr/>
          <p:nvPr/>
        </p:nvSpPr>
        <p:spPr>
          <a:xfrm rot="-900000">
            <a:off x="7132320" y="822960"/>
            <a:ext cx="2743200" cy="36576"/>
          </a:xfrm>
          <a:prstGeom prst="rect">
            <a:avLst/>
          </a:prstGeom>
          <a:solidFill>
            <a:srgbClr val="26A69A">
              <a:alpha val="25000"/>
            </a:srgbClr>
          </a:solidFill>
          <a:ln/>
        </p:spPr>
      </p:sp>
      <p:sp>
        <p:nvSpPr>
          <p:cNvPr id="6" name="Shape 4"/>
          <p:cNvSpPr/>
          <p:nvPr/>
        </p:nvSpPr>
        <p:spPr>
          <a:xfrm>
            <a:off x="6858000" y="457200"/>
            <a:ext cx="2926080" cy="3657600"/>
          </a:xfrm>
          <a:prstGeom prst="rect">
            <a:avLst/>
          </a:prstGeom>
          <a:solidFill>
            <a:srgbClr val="FFFFFF">
              <a:alpha val="4000"/>
            </a:srgbClr>
          </a:solidFill>
          <a:ln/>
        </p:spPr>
      </p:sp>
      <p:sp>
        <p:nvSpPr>
          <p:cNvPr id="7" name="Shape 5"/>
          <p:cNvSpPr/>
          <p:nvPr/>
        </p:nvSpPr>
        <p:spPr>
          <a:xfrm>
            <a:off x="502920" y="1463040"/>
            <a:ext cx="64008" cy="2011680"/>
          </a:xfrm>
          <a:prstGeom prst="rect">
            <a:avLst/>
          </a:prstGeom>
          <a:solidFill>
            <a:srgbClr val="F4A700"/>
          </a:solidFill>
          <a:ln/>
        </p:spPr>
      </p:sp>
      <p:sp>
        <p:nvSpPr>
          <p:cNvPr id="8" name="Text 6"/>
          <p:cNvSpPr/>
          <p:nvPr/>
        </p:nvSpPr>
        <p:spPr>
          <a:xfrm>
            <a:off x="685800" y="1417320"/>
            <a:ext cx="7772400" cy="320040"/>
          </a:xfrm>
          <a:prstGeom prst="rect">
            <a:avLst/>
          </a:prstGeom>
          <a:noFill/>
          <a:ln/>
        </p:spPr>
        <p:txBody>
          <a:bodyPr wrap="square" rtlCol="0" anchor="ctr"/>
          <a:lstStyle/>
          <a:p>
            <a:pPr indent="0" marL="0">
              <a:buNone/>
            </a:pPr>
            <a:r>
              <a:rPr lang="en-US" sz="900" b="1" spc="300" kern="0" dirty="0">
                <a:solidFill>
                  <a:srgbClr val="26A69A"/>
                </a:solidFill>
                <a:latin typeface="Trebuchet MS" pitchFamily="34" charset="0"/>
                <a:ea typeface="Trebuchet MS" pitchFamily="34" charset="-122"/>
                <a:cs typeface="Trebuchet MS" pitchFamily="34" charset="-120"/>
              </a:rPr>
              <a:t>NASCAR CUP SERIES  ·  2024 SEASON  ·  NY RACING</a:t>
            </a:r>
            <a:endParaRPr lang="en-US" sz="900" dirty="0"/>
          </a:p>
        </p:txBody>
      </p:sp>
      <p:sp>
        <p:nvSpPr>
          <p:cNvPr id="9" name="Text 7"/>
          <p:cNvSpPr/>
          <p:nvPr/>
        </p:nvSpPr>
        <p:spPr>
          <a:xfrm>
            <a:off x="685800" y="1828800"/>
            <a:ext cx="6858000" cy="777240"/>
          </a:xfrm>
          <a:prstGeom prst="rect">
            <a:avLst/>
          </a:prstGeom>
          <a:noFill/>
          <a:ln/>
        </p:spPr>
        <p:txBody>
          <a:bodyPr wrap="square" rtlCol="0" anchor="ctr"/>
          <a:lstStyle/>
          <a:p>
            <a:pPr indent="0" marL="0">
              <a:buNone/>
            </a:pPr>
            <a:r>
              <a:rPr lang="en-US" sz="5400" b="1" dirty="0">
                <a:solidFill>
                  <a:srgbClr val="FFFFFF"/>
                </a:solidFill>
                <a:latin typeface="Arial Black" pitchFamily="34" charset="0"/>
                <a:ea typeface="Arial Black" pitchFamily="34" charset="-122"/>
                <a:cs typeface="Arial Black" pitchFamily="34" charset="-120"/>
              </a:rPr>
              <a:t>WHO PAYS FOR</a:t>
            </a:r>
            <a:endParaRPr lang="en-US" sz="5400" dirty="0"/>
          </a:p>
        </p:txBody>
      </p:sp>
      <p:sp>
        <p:nvSpPr>
          <p:cNvPr id="10" name="Text 8"/>
          <p:cNvSpPr/>
          <p:nvPr/>
        </p:nvSpPr>
        <p:spPr>
          <a:xfrm>
            <a:off x="685800" y="2542032"/>
            <a:ext cx="6858000" cy="777240"/>
          </a:xfrm>
          <a:prstGeom prst="rect">
            <a:avLst/>
          </a:prstGeom>
          <a:noFill/>
          <a:ln/>
        </p:spPr>
        <p:txBody>
          <a:bodyPr wrap="square" rtlCol="0" anchor="ctr"/>
          <a:lstStyle/>
          <a:p>
            <a:pPr indent="0" marL="0">
              <a:buNone/>
            </a:pPr>
            <a:r>
              <a:rPr lang="en-US" sz="5400" b="1" dirty="0">
                <a:solidFill>
                  <a:srgbClr val="F4A700"/>
                </a:solidFill>
                <a:latin typeface="Arial Black" pitchFamily="34" charset="0"/>
                <a:ea typeface="Arial Black" pitchFamily="34" charset="-122"/>
                <a:cs typeface="Arial Black" pitchFamily="34" charset="-120"/>
              </a:rPr>
              <a:t>VISIBILITY?</a:t>
            </a:r>
            <a:endParaRPr lang="en-US" sz="5400" dirty="0"/>
          </a:p>
        </p:txBody>
      </p:sp>
      <p:sp>
        <p:nvSpPr>
          <p:cNvPr id="11" name="Text 9"/>
          <p:cNvSpPr/>
          <p:nvPr/>
        </p:nvSpPr>
        <p:spPr>
          <a:xfrm>
            <a:off x="685800" y="3401568"/>
            <a:ext cx="7772400" cy="347472"/>
          </a:xfrm>
          <a:prstGeom prst="rect">
            <a:avLst/>
          </a:prstGeom>
          <a:noFill/>
          <a:ln/>
        </p:spPr>
        <p:txBody>
          <a:bodyPr wrap="square" rtlCol="0" anchor="ctr"/>
          <a:lstStyle/>
          <a:p>
            <a:pPr indent="0" marL="0">
              <a:buNone/>
            </a:pPr>
            <a:r>
              <a:rPr lang="en-US" sz="1100" dirty="0">
                <a:solidFill>
                  <a:srgbClr val="BDD4E7"/>
                </a:solidFill>
                <a:latin typeface="Trebuchet MS" pitchFamily="34" charset="0"/>
                <a:ea typeface="Trebuchet MS" pitchFamily="34" charset="-122"/>
                <a:cs typeface="Trebuchet MS" pitchFamily="34" charset="-120"/>
              </a:rPr>
              <a:t>A Quantitative Analysis of Sponsorship Exposure  ·  5 Sponsors  ·  36 Races  ·  2024 Season</a:t>
            </a:r>
            <a:endParaRPr lang="en-US" sz="1100" dirty="0"/>
          </a:p>
        </p:txBody>
      </p:sp>
      <p:sp>
        <p:nvSpPr>
          <p:cNvPr id="12" name="Shape 10"/>
          <p:cNvSpPr/>
          <p:nvPr/>
        </p:nvSpPr>
        <p:spPr>
          <a:xfrm>
            <a:off x="502920" y="4343400"/>
            <a:ext cx="8138160" cy="13716"/>
          </a:xfrm>
          <a:prstGeom prst="rect">
            <a:avLst/>
          </a:prstGeom>
          <a:solidFill>
            <a:srgbClr val="26A69A">
              <a:alpha val="60000"/>
            </a:srgbClr>
          </a:solidFill>
          <a:ln/>
        </p:spPr>
      </p:sp>
      <p:sp>
        <p:nvSpPr>
          <p:cNvPr id="13" name="Text 11"/>
          <p:cNvSpPr/>
          <p:nvPr/>
        </p:nvSpPr>
        <p:spPr>
          <a:xfrm>
            <a:off x="502920" y="4498848"/>
            <a:ext cx="8229600" cy="320040"/>
          </a:xfrm>
          <a:prstGeom prst="rect">
            <a:avLst/>
          </a:prstGeom>
          <a:noFill/>
          <a:ln/>
        </p:spPr>
        <p:txBody>
          <a:bodyPr wrap="square"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Anshul Ghildiyal</a:t>
            </a:r>
            <a:pPr indent="0" marL="0">
              <a:buNone/>
            </a:pPr>
            <a:r>
              <a:rPr lang="en-US" sz="1000" dirty="0">
                <a:solidFill>
                  <a:srgbClr val="7F8C9A"/>
                </a:solidFill>
                <a:latin typeface="Trebuchet MS" pitchFamily="34" charset="0"/>
                <a:ea typeface="Trebuchet MS" pitchFamily="34" charset="-122"/>
                <a:cs typeface="Trebuchet MS" pitchFamily="34" charset="-120"/>
              </a:rPr>
              <a:t xml:space="preserve">   ·   Prepared for Sarah Mitchell &amp; Marcus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182880"/>
            <a:ext cx="8321040" cy="658368"/>
          </a:xfrm>
          <a:prstGeom prst="rect">
            <a:avLst/>
          </a:prstGeom>
          <a:noFill/>
          <a:ln/>
        </p:spPr>
        <p:txBody>
          <a:bodyPr wrap="square" rtlCol="0" anchor="ctr"/>
          <a:lstStyle/>
          <a:p>
            <a:pPr indent="0" marL="0">
              <a:buNone/>
            </a:pPr>
            <a:r>
              <a:rPr lang="en-US" sz="1600" b="1" dirty="0">
                <a:solidFill>
                  <a:srgbClr val="1B3A5C"/>
                </a:solidFill>
                <a:latin typeface="Arial" pitchFamily="34" charset="0"/>
                <a:ea typeface="Arial" pitchFamily="34" charset="-122"/>
                <a:cs typeface="Arial" pitchFamily="34" charset="-120"/>
              </a:rPr>
              <a:t>Monster Energy Is the Best Sponsorship Play — High Visibility, Strong ROI, Defensible to Every Stakeholder</a:t>
            </a:r>
            <a:endParaRPr lang="en-US" sz="1600" dirty="0"/>
          </a:p>
        </p:txBody>
      </p:sp>
      <p:sp>
        <p:nvSpPr>
          <p:cNvPr id="3" name="Shape 1"/>
          <p:cNvSpPr/>
          <p:nvPr/>
        </p:nvSpPr>
        <p:spPr>
          <a:xfrm>
            <a:off x="411480" y="859536"/>
            <a:ext cx="8321040" cy="22860"/>
          </a:xfrm>
          <a:prstGeom prst="rect">
            <a:avLst/>
          </a:prstGeom>
          <a:solidFill>
            <a:srgbClr val="26A69A"/>
          </a:solidFill>
          <a:ln/>
        </p:spPr>
      </p:sp>
      <p:sp>
        <p:nvSpPr>
          <p:cNvPr id="4" name="Shape 2"/>
          <p:cNvSpPr/>
          <p:nvPr/>
        </p:nvSpPr>
        <p:spPr>
          <a:xfrm>
            <a:off x="411480" y="1005840"/>
            <a:ext cx="475488" cy="475488"/>
          </a:xfrm>
          <a:prstGeom prst="ellipse">
            <a:avLst/>
          </a:prstGeom>
          <a:solidFill>
            <a:srgbClr val="F4A700"/>
          </a:solidFill>
          <a:ln/>
        </p:spPr>
      </p:sp>
      <p:sp>
        <p:nvSpPr>
          <p:cNvPr id="5" name="Text 3"/>
          <p:cNvSpPr/>
          <p:nvPr/>
        </p:nvSpPr>
        <p:spPr>
          <a:xfrm>
            <a:off x="411480" y="1005840"/>
            <a:ext cx="475488" cy="475488"/>
          </a:xfrm>
          <a:prstGeom prst="rect">
            <a:avLst/>
          </a:prstGeom>
          <a:noFill/>
          <a:ln/>
        </p:spPr>
        <p:txBody>
          <a:bodyPr wrap="square" rtlCol="0" anchor="ctr"/>
          <a:lstStyle/>
          <a:p>
            <a:pPr algn="ctr" indent="0" marL="0">
              <a:buNone/>
            </a:pPr>
            <a:r>
              <a:rPr lang="en-US" sz="1300" b="1" dirty="0">
                <a:solidFill>
                  <a:srgbClr val="1B3A5C"/>
                </a:solidFill>
                <a:latin typeface="Arial Black" pitchFamily="34" charset="0"/>
                <a:ea typeface="Arial Black" pitchFamily="34" charset="-122"/>
                <a:cs typeface="Arial Black" pitchFamily="34" charset="-120"/>
              </a:rPr>
              <a:t>01</a:t>
            </a:r>
            <a:endParaRPr lang="en-US" sz="1300" dirty="0"/>
          </a:p>
        </p:txBody>
      </p:sp>
      <p:sp>
        <p:nvSpPr>
          <p:cNvPr id="6" name="Text 4"/>
          <p:cNvSpPr/>
          <p:nvPr/>
        </p:nvSpPr>
        <p:spPr>
          <a:xfrm>
            <a:off x="1005840" y="969264"/>
            <a:ext cx="4297680" cy="548640"/>
          </a:xfrm>
          <a:prstGeom prst="rect">
            <a:avLst/>
          </a:prstGeom>
          <a:noFill/>
          <a:ln/>
        </p:spPr>
        <p:txBody>
          <a:bodyPr wrap="square" rtlCol="0" anchor="ctr"/>
          <a:lstStyle/>
          <a:p>
            <a:pPr indent="0" marL="0">
              <a:buNone/>
            </a:pPr>
            <a:r>
              <a:rPr lang="en-US" sz="1100" b="1" dirty="0">
                <a:solidFill>
                  <a:srgbClr val="1B3A5C"/>
                </a:solidFill>
                <a:latin typeface="Trebuchet MS" pitchFamily="34" charset="0"/>
                <a:ea typeface="Trebuchet MS" pitchFamily="34" charset="-122"/>
                <a:cs typeface="Trebuchet MS" pitchFamily="34" charset="-120"/>
              </a:rPr>
              <a:t xml:space="preserve">Laps Led, not Finish Position, </a:t>
            </a:r>
            <a:pPr indent="0" marL="0">
              <a:buNone/>
            </a:pPr>
            <a:r>
              <a:rPr lang="en-US" sz="1100" dirty="0">
                <a:solidFill>
                  <a:srgbClr val="1A1A2E"/>
                </a:solidFill>
                <a:latin typeface="Trebuchet MS" pitchFamily="34" charset="0"/>
                <a:ea typeface="Trebuchet MS" pitchFamily="34" charset="-122"/>
                <a:cs typeface="Trebuchet MS" pitchFamily="34" charset="-120"/>
              </a:rPr>
              <a:t>predicts visibility on every channel — outperforming by 0.24–0.29 correlation points</a:t>
            </a:r>
            <a:endParaRPr lang="en-US" sz="1100" dirty="0"/>
          </a:p>
        </p:txBody>
      </p:sp>
      <p:sp>
        <p:nvSpPr>
          <p:cNvPr id="7" name="Shape 5"/>
          <p:cNvSpPr/>
          <p:nvPr/>
        </p:nvSpPr>
        <p:spPr>
          <a:xfrm>
            <a:off x="411480" y="2240280"/>
            <a:ext cx="475488" cy="475488"/>
          </a:xfrm>
          <a:prstGeom prst="ellipse">
            <a:avLst/>
          </a:prstGeom>
          <a:solidFill>
            <a:srgbClr val="F4A700"/>
          </a:solidFill>
          <a:ln/>
        </p:spPr>
      </p:sp>
      <p:sp>
        <p:nvSpPr>
          <p:cNvPr id="8" name="Text 6"/>
          <p:cNvSpPr/>
          <p:nvPr/>
        </p:nvSpPr>
        <p:spPr>
          <a:xfrm>
            <a:off x="411480" y="2240280"/>
            <a:ext cx="475488" cy="475488"/>
          </a:xfrm>
          <a:prstGeom prst="rect">
            <a:avLst/>
          </a:prstGeom>
          <a:noFill/>
          <a:ln/>
        </p:spPr>
        <p:txBody>
          <a:bodyPr wrap="square" rtlCol="0" anchor="ctr"/>
          <a:lstStyle/>
          <a:p>
            <a:pPr algn="ctr" indent="0" marL="0">
              <a:buNone/>
            </a:pPr>
            <a:r>
              <a:rPr lang="en-US" sz="1300" b="1" dirty="0">
                <a:solidFill>
                  <a:srgbClr val="1B3A5C"/>
                </a:solidFill>
                <a:latin typeface="Arial Black" pitchFamily="34" charset="0"/>
                <a:ea typeface="Arial Black" pitchFamily="34" charset="-122"/>
                <a:cs typeface="Arial Black" pitchFamily="34" charset="-120"/>
              </a:rPr>
              <a:t>02</a:t>
            </a:r>
            <a:endParaRPr lang="en-US" sz="1300" dirty="0"/>
          </a:p>
        </p:txBody>
      </p:sp>
      <p:sp>
        <p:nvSpPr>
          <p:cNvPr id="9" name="Text 7"/>
          <p:cNvSpPr/>
          <p:nvPr/>
        </p:nvSpPr>
        <p:spPr>
          <a:xfrm>
            <a:off x="1005840" y="2203704"/>
            <a:ext cx="4297680" cy="548640"/>
          </a:xfrm>
          <a:prstGeom prst="rect">
            <a:avLst/>
          </a:prstGeom>
          <a:noFill/>
          <a:ln/>
        </p:spPr>
        <p:txBody>
          <a:bodyPr wrap="square" rtlCol="0" anchor="ctr"/>
          <a:lstStyle/>
          <a:p>
            <a:pPr indent="0" marL="0">
              <a:buNone/>
            </a:pPr>
            <a:r>
              <a:rPr lang="en-US" sz="1100" b="1" dirty="0">
                <a:solidFill>
                  <a:srgbClr val="1B3A5C"/>
                </a:solidFill>
                <a:latin typeface="Trebuchet MS" pitchFamily="34" charset="0"/>
                <a:ea typeface="Trebuchet MS" pitchFamily="34" charset="-122"/>
                <a:cs typeface="Trebuchet MS" pitchFamily="34" charset="-120"/>
              </a:rPr>
              <a:t xml:space="preserve">Race wins generate a ~9× multiplier, </a:t>
            </a:r>
            <a:pPr indent="0" marL="0">
              <a:buNone/>
            </a:pPr>
            <a:r>
              <a:rPr lang="en-US" sz="1100" dirty="0">
                <a:solidFill>
                  <a:srgbClr val="1A1A2E"/>
                </a:solidFill>
                <a:latin typeface="Trebuchet MS" pitchFamily="34" charset="0"/>
                <a:ea typeface="Trebuchet MS" pitchFamily="34" charset="-122"/>
                <a:cs typeface="Trebuchet MS" pitchFamily="34" charset="-120"/>
              </a:rPr>
              <a:t>not just a better finish — a category jump that lower-tier deals cannot replicate</a:t>
            </a:r>
            <a:endParaRPr lang="en-US" sz="1100" dirty="0"/>
          </a:p>
        </p:txBody>
      </p:sp>
      <p:sp>
        <p:nvSpPr>
          <p:cNvPr id="10" name="Shape 8"/>
          <p:cNvSpPr/>
          <p:nvPr/>
        </p:nvSpPr>
        <p:spPr>
          <a:xfrm>
            <a:off x="411480" y="3474720"/>
            <a:ext cx="475488" cy="475488"/>
          </a:xfrm>
          <a:prstGeom prst="ellipse">
            <a:avLst/>
          </a:prstGeom>
          <a:solidFill>
            <a:srgbClr val="F4A700"/>
          </a:solidFill>
          <a:ln/>
        </p:spPr>
      </p:sp>
      <p:sp>
        <p:nvSpPr>
          <p:cNvPr id="11" name="Text 9"/>
          <p:cNvSpPr/>
          <p:nvPr/>
        </p:nvSpPr>
        <p:spPr>
          <a:xfrm>
            <a:off x="411480" y="3474720"/>
            <a:ext cx="475488" cy="475488"/>
          </a:xfrm>
          <a:prstGeom prst="rect">
            <a:avLst/>
          </a:prstGeom>
          <a:noFill/>
          <a:ln/>
        </p:spPr>
        <p:txBody>
          <a:bodyPr wrap="square" rtlCol="0" anchor="ctr"/>
          <a:lstStyle/>
          <a:p>
            <a:pPr algn="ctr" indent="0" marL="0">
              <a:buNone/>
            </a:pPr>
            <a:r>
              <a:rPr lang="en-US" sz="1300" b="1" dirty="0">
                <a:solidFill>
                  <a:srgbClr val="1B3A5C"/>
                </a:solidFill>
                <a:latin typeface="Arial Black" pitchFamily="34" charset="0"/>
                <a:ea typeface="Arial Black" pitchFamily="34" charset="-122"/>
                <a:cs typeface="Arial Black" pitchFamily="34" charset="-120"/>
              </a:rPr>
              <a:t>03</a:t>
            </a:r>
            <a:endParaRPr lang="en-US" sz="1300" dirty="0"/>
          </a:p>
        </p:txBody>
      </p:sp>
      <p:sp>
        <p:nvSpPr>
          <p:cNvPr id="12" name="Text 10"/>
          <p:cNvSpPr/>
          <p:nvPr/>
        </p:nvSpPr>
        <p:spPr>
          <a:xfrm>
            <a:off x="1005840" y="3438144"/>
            <a:ext cx="4297680" cy="548640"/>
          </a:xfrm>
          <a:prstGeom prst="rect">
            <a:avLst/>
          </a:prstGeom>
          <a:noFill/>
          <a:ln/>
        </p:spPr>
        <p:txBody>
          <a:bodyPr wrap="square" rtlCol="0" anchor="ctr"/>
          <a:lstStyle/>
          <a:p>
            <a:pPr indent="0" marL="0">
              <a:buNone/>
            </a:pPr>
            <a:r>
              <a:rPr lang="en-US" sz="1100" b="1" dirty="0">
                <a:solidFill>
                  <a:srgbClr val="1B3A5C"/>
                </a:solidFill>
                <a:latin typeface="Trebuchet MS" pitchFamily="34" charset="0"/>
                <a:ea typeface="Trebuchet MS" pitchFamily="34" charset="-122"/>
                <a:cs typeface="Trebuchet MS" pitchFamily="34" charset="-120"/>
              </a:rPr>
              <a:t xml:space="preserve">Elite-team sponsors pay a 32% efficiency penalty — </a:t>
            </a:r>
            <a:pPr indent="0" marL="0">
              <a:buNone/>
            </a:pPr>
            <a:r>
              <a:rPr lang="en-US" sz="1100" dirty="0">
                <a:solidFill>
                  <a:srgbClr val="1A1A2E"/>
                </a:solidFill>
                <a:latin typeface="Trebuchet MS" pitchFamily="34" charset="0"/>
                <a:ea typeface="Trebuchet MS" pitchFamily="34" charset="-122"/>
                <a:cs typeface="Trebuchet MS" pitchFamily="34" charset="-120"/>
              </a:rPr>
              <a:t>maximum visibility does not mean maximum value per dollar</a:t>
            </a:r>
            <a:endParaRPr lang="en-US" sz="1100" dirty="0"/>
          </a:p>
        </p:txBody>
      </p:sp>
      <p:sp>
        <p:nvSpPr>
          <p:cNvPr id="13" name="Shape 11"/>
          <p:cNvSpPr/>
          <p:nvPr/>
        </p:nvSpPr>
        <p:spPr>
          <a:xfrm>
            <a:off x="5532120" y="987552"/>
            <a:ext cx="3200400" cy="3611880"/>
          </a:xfrm>
          <a:prstGeom prst="rect">
            <a:avLst/>
          </a:prstGeom>
          <a:solidFill>
            <a:srgbClr val="1B3A5C"/>
          </a:solidFill>
          <a:ln/>
          <a:effectLst>
            <a:outerShdw sx="100000" sy="100000" kx="0" ky="0" algn="bl" rotWithShape="0" blurRad="101600" dist="38100" dir="8100000">
              <a:srgbClr val="000000">
                <a:alpha val="12000"/>
              </a:srgbClr>
            </a:outerShdw>
          </a:effectLst>
        </p:spPr>
      </p:sp>
      <p:sp>
        <p:nvSpPr>
          <p:cNvPr id="14" name="Shape 12"/>
          <p:cNvSpPr/>
          <p:nvPr/>
        </p:nvSpPr>
        <p:spPr>
          <a:xfrm>
            <a:off x="5532120" y="987552"/>
            <a:ext cx="3200400" cy="54864"/>
          </a:xfrm>
          <a:prstGeom prst="rect">
            <a:avLst/>
          </a:prstGeom>
          <a:solidFill>
            <a:srgbClr val="F4A700"/>
          </a:solidFill>
          <a:ln/>
        </p:spPr>
      </p:sp>
      <p:sp>
        <p:nvSpPr>
          <p:cNvPr id="15" name="Text 13"/>
          <p:cNvSpPr/>
          <p:nvPr/>
        </p:nvSpPr>
        <p:spPr>
          <a:xfrm>
            <a:off x="5623560" y="1097280"/>
            <a:ext cx="3017520" cy="274320"/>
          </a:xfrm>
          <a:prstGeom prst="rect">
            <a:avLst/>
          </a:prstGeom>
          <a:noFill/>
          <a:ln/>
        </p:spPr>
        <p:txBody>
          <a:bodyPr wrap="square" rtlCol="0" anchor="ctr"/>
          <a:lstStyle/>
          <a:p>
            <a:pPr algn="ctr" indent="0" marL="0">
              <a:buNone/>
            </a:pPr>
            <a:r>
              <a:rPr lang="en-US" sz="800" b="1" spc="150" kern="0" dirty="0">
                <a:solidFill>
                  <a:srgbClr val="26A69A"/>
                </a:solidFill>
                <a:latin typeface="Trebuchet MS" pitchFamily="34" charset="0"/>
                <a:ea typeface="Trebuchet MS" pitchFamily="34" charset="-122"/>
                <a:cs typeface="Trebuchet MS" pitchFamily="34" charset="-120"/>
              </a:rPr>
              <a:t>PRIMARY RECOMMENDATION</a:t>
            </a:r>
            <a:endParaRPr lang="en-US" sz="800" dirty="0"/>
          </a:p>
        </p:txBody>
      </p:sp>
      <p:sp>
        <p:nvSpPr>
          <p:cNvPr id="16" name="Text 14"/>
          <p:cNvSpPr/>
          <p:nvPr/>
        </p:nvSpPr>
        <p:spPr>
          <a:xfrm>
            <a:off x="5623560" y="1417320"/>
            <a:ext cx="3017520" cy="594360"/>
          </a:xfrm>
          <a:prstGeom prst="rect">
            <a:avLst/>
          </a:prstGeom>
          <a:noFill/>
          <a:ln/>
        </p:spPr>
        <p:txBody>
          <a:bodyPr wrap="square" rtlCol="0" anchor="ctr"/>
          <a:lstStyle/>
          <a:p>
            <a:pPr algn="ctr" indent="0" marL="0">
              <a:buNone/>
            </a:pPr>
            <a:r>
              <a:rPr lang="en-US" sz="2600" b="1" dirty="0">
                <a:solidFill>
                  <a:srgbClr val="FFFFFF"/>
                </a:solidFill>
                <a:latin typeface="Arial Black" pitchFamily="34" charset="0"/>
                <a:ea typeface="Arial Black" pitchFamily="34" charset="-122"/>
                <a:cs typeface="Arial Black" pitchFamily="34" charset="-120"/>
              </a:rPr>
              <a:t>Monster Energy</a:t>
            </a:r>
            <a:endParaRPr lang="en-US" sz="2600" dirty="0"/>
          </a:p>
        </p:txBody>
      </p:sp>
      <p:sp>
        <p:nvSpPr>
          <p:cNvPr id="17" name="Shape 15"/>
          <p:cNvSpPr/>
          <p:nvPr/>
        </p:nvSpPr>
        <p:spPr>
          <a:xfrm>
            <a:off x="5852160" y="2057400"/>
            <a:ext cx="2560320" cy="18288"/>
          </a:xfrm>
          <a:prstGeom prst="rect">
            <a:avLst/>
          </a:prstGeom>
          <a:solidFill>
            <a:srgbClr val="26A69A">
              <a:alpha val="50000"/>
            </a:srgbClr>
          </a:solidFill>
          <a:ln/>
        </p:spPr>
      </p:sp>
      <p:sp>
        <p:nvSpPr>
          <p:cNvPr id="18" name="Text 16"/>
          <p:cNvSpPr/>
          <p:nvPr/>
        </p:nvSpPr>
        <p:spPr>
          <a:xfrm>
            <a:off x="5623560" y="2176272"/>
            <a:ext cx="3017520" cy="201168"/>
          </a:xfrm>
          <a:prstGeom prst="rect">
            <a:avLst/>
          </a:prstGeom>
          <a:noFill/>
          <a:ln/>
        </p:spPr>
        <p:txBody>
          <a:bodyPr wrap="square" rtlCol="0" anchor="ctr"/>
          <a:lstStyle/>
          <a:p>
            <a:pPr algn="ctr" indent="0" marL="0">
              <a:buNone/>
            </a:pPr>
            <a:r>
              <a:rPr lang="en-US" sz="800" dirty="0">
                <a:solidFill>
                  <a:srgbClr val="26A69A"/>
                </a:solidFill>
                <a:latin typeface="Trebuchet MS" pitchFamily="34" charset="0"/>
                <a:ea typeface="Trebuchet MS" pitchFamily="34" charset="-122"/>
                <a:cs typeface="Trebuchet MS" pitchFamily="34" charset="-120"/>
              </a:rPr>
              <a:t>Visibility Score</a:t>
            </a:r>
            <a:endParaRPr lang="en-US" sz="800" dirty="0"/>
          </a:p>
        </p:txBody>
      </p:sp>
      <p:sp>
        <p:nvSpPr>
          <p:cNvPr id="19" name="Text 17"/>
          <p:cNvSpPr/>
          <p:nvPr/>
        </p:nvSpPr>
        <p:spPr>
          <a:xfrm>
            <a:off x="5623560" y="2377440"/>
            <a:ext cx="3017520" cy="2743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  ·  1,343 pts</a:t>
            </a:r>
            <a:endParaRPr lang="en-US" sz="1300" dirty="0"/>
          </a:p>
        </p:txBody>
      </p:sp>
      <p:sp>
        <p:nvSpPr>
          <p:cNvPr id="20" name="Text 18"/>
          <p:cNvSpPr/>
          <p:nvPr/>
        </p:nvSpPr>
        <p:spPr>
          <a:xfrm>
            <a:off x="5623560" y="2743200"/>
            <a:ext cx="3017520" cy="201168"/>
          </a:xfrm>
          <a:prstGeom prst="rect">
            <a:avLst/>
          </a:prstGeom>
          <a:noFill/>
          <a:ln/>
        </p:spPr>
        <p:txBody>
          <a:bodyPr wrap="square" rtlCol="0" anchor="ctr"/>
          <a:lstStyle/>
          <a:p>
            <a:pPr algn="ctr" indent="0" marL="0">
              <a:buNone/>
            </a:pPr>
            <a:r>
              <a:rPr lang="en-US" sz="800" dirty="0">
                <a:solidFill>
                  <a:srgbClr val="26A69A"/>
                </a:solidFill>
                <a:latin typeface="Trebuchet MS" pitchFamily="34" charset="0"/>
                <a:ea typeface="Trebuchet MS" pitchFamily="34" charset="-122"/>
                <a:cs typeface="Trebuchet MS" pitchFamily="34" charset="-120"/>
              </a:rPr>
              <a:t>Efficiency</a:t>
            </a:r>
            <a:endParaRPr lang="en-US" sz="800" dirty="0"/>
          </a:p>
        </p:txBody>
      </p:sp>
      <p:sp>
        <p:nvSpPr>
          <p:cNvPr id="21" name="Text 19"/>
          <p:cNvSpPr/>
          <p:nvPr/>
        </p:nvSpPr>
        <p:spPr>
          <a:xfrm>
            <a:off x="5623560" y="2944368"/>
            <a:ext cx="3017520" cy="2743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  ·  76.8 pts/$M</a:t>
            </a:r>
            <a:endParaRPr lang="en-US" sz="1300" dirty="0"/>
          </a:p>
        </p:txBody>
      </p:sp>
      <p:sp>
        <p:nvSpPr>
          <p:cNvPr id="22" name="Text 20"/>
          <p:cNvSpPr/>
          <p:nvPr/>
        </p:nvSpPr>
        <p:spPr>
          <a:xfrm>
            <a:off x="5623560" y="3310128"/>
            <a:ext cx="3017520" cy="201168"/>
          </a:xfrm>
          <a:prstGeom prst="rect">
            <a:avLst/>
          </a:prstGeom>
          <a:noFill/>
          <a:ln/>
        </p:spPr>
        <p:txBody>
          <a:bodyPr wrap="square" rtlCol="0" anchor="ctr"/>
          <a:lstStyle/>
          <a:p>
            <a:pPr algn="ctr" indent="0" marL="0">
              <a:buNone/>
            </a:pPr>
            <a:r>
              <a:rPr lang="en-US" sz="800" dirty="0">
                <a:solidFill>
                  <a:srgbClr val="26A69A"/>
                </a:solidFill>
                <a:latin typeface="Trebuchet MS" pitchFamily="34" charset="0"/>
                <a:ea typeface="Trebuchet MS" pitchFamily="34" charset="-122"/>
                <a:cs typeface="Trebuchet MS" pitchFamily="34" charset="-120"/>
              </a:rPr>
              <a:t>Est. Annual Cost</a:t>
            </a:r>
            <a:endParaRPr lang="en-US" sz="800" dirty="0"/>
          </a:p>
        </p:txBody>
      </p:sp>
      <p:sp>
        <p:nvSpPr>
          <p:cNvPr id="23" name="Text 21"/>
          <p:cNvSpPr/>
          <p:nvPr/>
        </p:nvSpPr>
        <p:spPr>
          <a:xfrm>
            <a:off x="5623560" y="3511296"/>
            <a:ext cx="3017520" cy="2743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$17.5M</a:t>
            </a:r>
            <a:endParaRPr lang="en-US" sz="1300" dirty="0"/>
          </a:p>
        </p:txBody>
      </p:sp>
      <p:sp>
        <p:nvSpPr>
          <p:cNvPr id="24" name="Text 22"/>
          <p:cNvSpPr/>
          <p:nvPr/>
        </p:nvSpPr>
        <p:spPr>
          <a:xfrm>
            <a:off x="5623560" y="4160520"/>
            <a:ext cx="3017520" cy="347472"/>
          </a:xfrm>
          <a:prstGeom prst="rect">
            <a:avLst/>
          </a:prstGeom>
          <a:noFill/>
          <a:ln/>
        </p:spPr>
        <p:txBody>
          <a:bodyPr wrap="square" rtlCol="0" anchor="ctr"/>
          <a:lstStyle/>
          <a:p>
            <a:pPr algn="ctr" indent="0" marL="0">
              <a:buNone/>
            </a:pPr>
            <a:r>
              <a:rPr lang="en-US" sz="900" i="1" dirty="0">
                <a:solidFill>
                  <a:srgbClr val="F4A700"/>
                </a:solidFill>
                <a:latin typeface="Trebuchet MS" pitchFamily="34" charset="0"/>
                <a:ea typeface="Trebuchet MS" pitchFamily="34" charset="-122"/>
                <a:cs typeface="Trebuchet MS" pitchFamily="34" charset="-120"/>
              </a:rPr>
              <a:t>Near-maximum exposure at 94% of peak efficiency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164592"/>
            <a:ext cx="8321040" cy="658368"/>
          </a:xfrm>
          <a:prstGeom prst="rect">
            <a:avLst/>
          </a:prstGeom>
          <a:noFill/>
          <a:ln/>
        </p:spPr>
        <p:txBody>
          <a:bodyPr wrap="square" rtlCol="0" anchor="ctr"/>
          <a:lstStyle/>
          <a:p>
            <a:pPr indent="0" marL="0">
              <a:buNone/>
            </a:pPr>
            <a:r>
              <a:rPr lang="en-US" sz="1600" b="1" dirty="0">
                <a:solidFill>
                  <a:srgbClr val="1B3A5C"/>
                </a:solidFill>
                <a:latin typeface="Arial" pitchFamily="34" charset="0"/>
                <a:ea typeface="Arial" pitchFamily="34" charset="-122"/>
                <a:cs typeface="Arial" pitchFamily="34" charset="-120"/>
              </a:rPr>
              <a:t>We Built the First Quantitative Cross-Channel Visibility Model for NASCAR Primary Sponsors</a:t>
            </a:r>
            <a:endParaRPr lang="en-US" sz="1600" dirty="0"/>
          </a:p>
        </p:txBody>
      </p:sp>
      <p:sp>
        <p:nvSpPr>
          <p:cNvPr id="3" name="Shape 1"/>
          <p:cNvSpPr/>
          <p:nvPr/>
        </p:nvSpPr>
        <p:spPr>
          <a:xfrm>
            <a:off x="411480" y="832104"/>
            <a:ext cx="8321040" cy="22860"/>
          </a:xfrm>
          <a:prstGeom prst="rect">
            <a:avLst/>
          </a:prstGeom>
          <a:solidFill>
            <a:srgbClr val="26A69A"/>
          </a:solidFill>
          <a:ln/>
        </p:spPr>
      </p:sp>
      <p:sp>
        <p:nvSpPr>
          <p:cNvPr id="4" name="Shape 2"/>
          <p:cNvSpPr/>
          <p:nvPr/>
        </p:nvSpPr>
        <p:spPr>
          <a:xfrm>
            <a:off x="411480" y="960120"/>
            <a:ext cx="1920240" cy="2834640"/>
          </a:xfrm>
          <a:prstGeom prst="rect">
            <a:avLst/>
          </a:prstGeom>
          <a:solidFill>
            <a:srgbClr val="26A69A"/>
          </a:solidFill>
          <a:ln/>
          <a:effectLst>
            <a:outerShdw sx="100000" sy="100000" kx="0" ky="0" algn="bl" rotWithShape="0" blurRad="101600" dist="38100" dir="8100000">
              <a:srgbClr val="000000">
                <a:alpha val="12000"/>
              </a:srgbClr>
            </a:outerShdw>
          </a:effectLst>
        </p:spPr>
      </p:sp>
      <p:sp>
        <p:nvSpPr>
          <p:cNvPr id="5" name="Text 3"/>
          <p:cNvSpPr/>
          <p:nvPr/>
        </p:nvSpPr>
        <p:spPr>
          <a:xfrm>
            <a:off x="521208" y="1024128"/>
            <a:ext cx="1700784" cy="320040"/>
          </a:xfrm>
          <a:prstGeom prst="rect">
            <a:avLst/>
          </a:prstGeom>
          <a:noFill/>
          <a:ln/>
        </p:spPr>
        <p:txBody>
          <a:bodyPr wrap="square" rtlCol="0" anchor="ctr"/>
          <a:lstStyle/>
          <a:p>
            <a:pPr indent="0" marL="0">
              <a:buNone/>
            </a:pPr>
            <a:r>
              <a:rPr lang="en-US" sz="900" b="1" spc="50" kern="0" dirty="0">
                <a:solidFill>
                  <a:srgbClr val="FFFFFF"/>
                </a:solidFill>
                <a:latin typeface="Trebuchet MS" pitchFamily="34" charset="0"/>
                <a:ea typeface="Trebuchet MS" pitchFamily="34" charset="-122"/>
                <a:cs typeface="Trebuchet MS" pitchFamily="34" charset="-120"/>
              </a:rPr>
              <a:t>01  DATA SOURCES</a:t>
            </a:r>
            <a:endParaRPr lang="en-US" sz="900" dirty="0"/>
          </a:p>
        </p:txBody>
      </p:sp>
      <p:sp>
        <p:nvSpPr>
          <p:cNvPr id="6" name="Shape 4"/>
          <p:cNvSpPr/>
          <p:nvPr/>
        </p:nvSpPr>
        <p:spPr>
          <a:xfrm>
            <a:off x="521208" y="1371600"/>
            <a:ext cx="1700784" cy="18288"/>
          </a:xfrm>
          <a:prstGeom prst="rect">
            <a:avLst/>
          </a:prstGeom>
          <a:solidFill>
            <a:srgbClr val="FFFFFF">
              <a:alpha val="40000"/>
            </a:srgbClr>
          </a:solidFill>
          <a:ln/>
        </p:spPr>
      </p:sp>
      <p:sp>
        <p:nvSpPr>
          <p:cNvPr id="7" name="Text 5"/>
          <p:cNvSpPr/>
          <p:nvPr/>
        </p:nvSpPr>
        <p:spPr>
          <a:xfrm>
            <a:off x="521208" y="1463040"/>
            <a:ext cx="1700784" cy="365760"/>
          </a:xfrm>
          <a:prstGeom prst="rect">
            <a:avLst/>
          </a:prstGeom>
          <a:noFill/>
          <a:ln/>
        </p:spPr>
        <p:txBody>
          <a:bodyPr wrap="square" rtlCol="0" anchor="ctr"/>
          <a:lstStyle/>
          <a:p>
            <a:pPr indent="0" marL="0">
              <a:buNone/>
            </a:pPr>
            <a:r>
              <a:rPr lang="en-US" sz="1100" dirty="0">
                <a:solidFill>
                  <a:srgbClr val="FFFFFF"/>
                </a:solidFill>
                <a:latin typeface="Trebuchet MS" pitchFamily="34" charset="0"/>
                <a:ea typeface="Trebuchet MS" pitchFamily="34" charset="-122"/>
                <a:cs typeface="Trebuchet MS" pitchFamily="34" charset="-120"/>
              </a:rPr>
              <a:t>Race Results</a:t>
            </a:r>
            <a:endParaRPr lang="en-US" sz="1100" dirty="0"/>
          </a:p>
        </p:txBody>
      </p:sp>
      <p:sp>
        <p:nvSpPr>
          <p:cNvPr id="8" name="Text 6"/>
          <p:cNvSpPr/>
          <p:nvPr/>
        </p:nvSpPr>
        <p:spPr>
          <a:xfrm>
            <a:off x="521208" y="1874520"/>
            <a:ext cx="1700784" cy="365760"/>
          </a:xfrm>
          <a:prstGeom prst="rect">
            <a:avLst/>
          </a:prstGeom>
          <a:noFill/>
          <a:ln/>
        </p:spPr>
        <p:txBody>
          <a:bodyPr wrap="square" rtlCol="0" anchor="ctr"/>
          <a:lstStyle/>
          <a:p>
            <a:pPr indent="0" marL="0">
              <a:buNone/>
            </a:pPr>
            <a:r>
              <a:rPr lang="en-US" sz="1100" dirty="0">
                <a:solidFill>
                  <a:srgbClr val="FFFFFF"/>
                </a:solidFill>
                <a:latin typeface="Trebuchet MS" pitchFamily="34" charset="0"/>
                <a:ea typeface="Trebuchet MS" pitchFamily="34" charset="-122"/>
                <a:cs typeface="Trebuchet MS" pitchFamily="34" charset="-120"/>
              </a:rPr>
              <a:t>Kaggle + Racing Reference</a:t>
            </a:r>
            <a:endParaRPr lang="en-US" sz="1100" dirty="0"/>
          </a:p>
        </p:txBody>
      </p:sp>
      <p:sp>
        <p:nvSpPr>
          <p:cNvPr id="9" name="Text 7"/>
          <p:cNvSpPr/>
          <p:nvPr/>
        </p:nvSpPr>
        <p:spPr>
          <a:xfrm>
            <a:off x="521208" y="2286000"/>
            <a:ext cx="1700784" cy="365760"/>
          </a:xfrm>
          <a:prstGeom prst="rect">
            <a:avLst/>
          </a:prstGeom>
          <a:noFill/>
          <a:ln/>
        </p:spPr>
        <p:txBody>
          <a:bodyPr wrap="square" rtlCol="0" anchor="ctr"/>
          <a:lstStyle/>
          <a:p>
            <a:pPr indent="0" marL="0">
              <a:buNone/>
            </a:pPr>
            <a:r>
              <a:rPr lang="en-US" sz="1100" dirty="0">
                <a:solidFill>
                  <a:srgbClr val="FFFFFF"/>
                </a:solidFill>
                <a:latin typeface="Trebuchet MS" pitchFamily="34" charset="0"/>
                <a:ea typeface="Trebuchet MS" pitchFamily="34" charset="-122"/>
                <a:cs typeface="Trebuchet MS" pitchFamily="34" charset="-120"/>
              </a:rPr>
              <a:t>Reddit API (r/NASCAR)</a:t>
            </a:r>
            <a:endParaRPr lang="en-US" sz="1100" dirty="0"/>
          </a:p>
        </p:txBody>
      </p:sp>
      <p:sp>
        <p:nvSpPr>
          <p:cNvPr id="10" name="Text 8"/>
          <p:cNvSpPr/>
          <p:nvPr/>
        </p:nvSpPr>
        <p:spPr>
          <a:xfrm>
            <a:off x="521208" y="2697480"/>
            <a:ext cx="1700784" cy="365760"/>
          </a:xfrm>
          <a:prstGeom prst="rect">
            <a:avLst/>
          </a:prstGeom>
          <a:noFill/>
          <a:ln/>
        </p:spPr>
        <p:txBody>
          <a:bodyPr wrap="square" rtlCol="0" anchor="ctr"/>
          <a:lstStyle/>
          <a:p>
            <a:pPr indent="0" marL="0">
              <a:buNone/>
            </a:pPr>
            <a:r>
              <a:rPr lang="en-US" sz="1100" dirty="0">
                <a:solidFill>
                  <a:srgbClr val="FFFFFF"/>
                </a:solidFill>
                <a:latin typeface="Trebuchet MS" pitchFamily="34" charset="0"/>
                <a:ea typeface="Trebuchet MS" pitchFamily="34" charset="-122"/>
                <a:cs typeface="Trebuchet MS" pitchFamily="34" charset="-120"/>
              </a:rPr>
              <a:t>YouTube Data API v3</a:t>
            </a:r>
            <a:endParaRPr lang="en-US" sz="1100" dirty="0"/>
          </a:p>
        </p:txBody>
      </p:sp>
      <p:sp>
        <p:nvSpPr>
          <p:cNvPr id="11" name="Text 9"/>
          <p:cNvSpPr/>
          <p:nvPr/>
        </p:nvSpPr>
        <p:spPr>
          <a:xfrm>
            <a:off x="521208" y="3108960"/>
            <a:ext cx="1700784" cy="365760"/>
          </a:xfrm>
          <a:prstGeom prst="rect">
            <a:avLst/>
          </a:prstGeom>
          <a:noFill/>
          <a:ln/>
        </p:spPr>
        <p:txBody>
          <a:bodyPr wrap="square" rtlCol="0" anchor="ctr"/>
          <a:lstStyle/>
          <a:p>
            <a:pPr indent="0" marL="0">
              <a:buNone/>
            </a:pPr>
            <a:r>
              <a:rPr lang="en-US" sz="1100" dirty="0">
                <a:solidFill>
                  <a:srgbClr val="FFFFFF"/>
                </a:solidFill>
                <a:latin typeface="Trebuchet MS" pitchFamily="34" charset="0"/>
                <a:ea typeface="Trebuchet MS" pitchFamily="34" charset="-122"/>
                <a:cs typeface="Trebuchet MS" pitchFamily="34" charset="-120"/>
              </a:rPr>
              <a:t>Google News</a:t>
            </a:r>
            <a:endParaRPr lang="en-US" sz="1100" dirty="0"/>
          </a:p>
        </p:txBody>
      </p:sp>
      <p:sp>
        <p:nvSpPr>
          <p:cNvPr id="12" name="Shape 10"/>
          <p:cNvSpPr/>
          <p:nvPr/>
        </p:nvSpPr>
        <p:spPr>
          <a:xfrm>
            <a:off x="2331720" y="2267712"/>
            <a:ext cx="91440" cy="128016"/>
          </a:xfrm>
          <a:prstGeom prst="rect">
            <a:avLst/>
          </a:prstGeom>
          <a:solidFill>
            <a:srgbClr val="7F8C9A"/>
          </a:solidFill>
          <a:ln/>
        </p:spPr>
      </p:sp>
      <p:sp>
        <p:nvSpPr>
          <p:cNvPr id="13" name="Shape 11"/>
          <p:cNvSpPr/>
          <p:nvPr/>
        </p:nvSpPr>
        <p:spPr>
          <a:xfrm>
            <a:off x="2441448" y="960120"/>
            <a:ext cx="1920240" cy="2834640"/>
          </a:xfrm>
          <a:prstGeom prst="rect">
            <a:avLst/>
          </a:prstGeom>
          <a:solidFill>
            <a:srgbClr val="1B3A5C"/>
          </a:solidFill>
          <a:ln/>
          <a:effectLst>
            <a:outerShdw sx="100000" sy="100000" kx="0" ky="0" algn="bl" rotWithShape="0" blurRad="101600" dist="38100" dir="8100000">
              <a:srgbClr val="000000">
                <a:alpha val="12000"/>
              </a:srgbClr>
            </a:outerShdw>
          </a:effectLst>
        </p:spPr>
      </p:sp>
      <p:sp>
        <p:nvSpPr>
          <p:cNvPr id="14" name="Text 12"/>
          <p:cNvSpPr/>
          <p:nvPr/>
        </p:nvSpPr>
        <p:spPr>
          <a:xfrm>
            <a:off x="2551176" y="1024128"/>
            <a:ext cx="1700784" cy="320040"/>
          </a:xfrm>
          <a:prstGeom prst="rect">
            <a:avLst/>
          </a:prstGeom>
          <a:noFill/>
          <a:ln/>
        </p:spPr>
        <p:txBody>
          <a:bodyPr wrap="square" rtlCol="0" anchor="ctr"/>
          <a:lstStyle/>
          <a:p>
            <a:pPr indent="0" marL="0">
              <a:buNone/>
            </a:pPr>
            <a:r>
              <a:rPr lang="en-US" sz="900" b="1" spc="50" kern="0" dirty="0">
                <a:solidFill>
                  <a:srgbClr val="FFFFFF"/>
                </a:solidFill>
                <a:latin typeface="Trebuchet MS" pitchFamily="34" charset="0"/>
                <a:ea typeface="Trebuchet MS" pitchFamily="34" charset="-122"/>
                <a:cs typeface="Trebuchet MS" pitchFamily="34" charset="-120"/>
              </a:rPr>
              <a:t>02  SCORING MODEL</a:t>
            </a:r>
            <a:endParaRPr lang="en-US" sz="900" dirty="0"/>
          </a:p>
        </p:txBody>
      </p:sp>
      <p:sp>
        <p:nvSpPr>
          <p:cNvPr id="15" name="Shape 13"/>
          <p:cNvSpPr/>
          <p:nvPr/>
        </p:nvSpPr>
        <p:spPr>
          <a:xfrm>
            <a:off x="2551176" y="1371600"/>
            <a:ext cx="1700784" cy="18288"/>
          </a:xfrm>
          <a:prstGeom prst="rect">
            <a:avLst/>
          </a:prstGeom>
          <a:solidFill>
            <a:srgbClr val="FFFFFF">
              <a:alpha val="40000"/>
            </a:srgbClr>
          </a:solidFill>
          <a:ln/>
        </p:spPr>
      </p:sp>
      <p:sp>
        <p:nvSpPr>
          <p:cNvPr id="16" name="Text 14"/>
          <p:cNvSpPr/>
          <p:nvPr/>
        </p:nvSpPr>
        <p:spPr>
          <a:xfrm>
            <a:off x="2551176" y="1463040"/>
            <a:ext cx="1700784" cy="365760"/>
          </a:xfrm>
          <a:prstGeom prst="rect">
            <a:avLst/>
          </a:prstGeom>
          <a:noFill/>
          <a:ln/>
        </p:spPr>
        <p:txBody>
          <a:bodyPr wrap="square" rtlCol="0" anchor="ctr"/>
          <a:lstStyle/>
          <a:p>
            <a:pPr indent="0" marL="0">
              <a:buNone/>
            </a:pPr>
            <a:r>
              <a:rPr lang="en-US" sz="1100" dirty="0">
                <a:solidFill>
                  <a:srgbClr val="FFFFFF"/>
                </a:solidFill>
                <a:latin typeface="Trebuchet MS" pitchFamily="34" charset="0"/>
                <a:ea typeface="Trebuchet MS" pitchFamily="34" charset="-122"/>
                <a:cs typeface="Trebuchet MS" pitchFamily="34" charset="-120"/>
              </a:rPr>
              <a:t>7 variables, 4 categories</a:t>
            </a:r>
            <a:endParaRPr lang="en-US" sz="1100" dirty="0"/>
          </a:p>
        </p:txBody>
      </p:sp>
      <p:sp>
        <p:nvSpPr>
          <p:cNvPr id="17" name="Text 15"/>
          <p:cNvSpPr/>
          <p:nvPr/>
        </p:nvSpPr>
        <p:spPr>
          <a:xfrm>
            <a:off x="2551176" y="1874520"/>
            <a:ext cx="1700784" cy="365760"/>
          </a:xfrm>
          <a:prstGeom prst="rect">
            <a:avLst/>
          </a:prstGeom>
          <a:noFill/>
          <a:ln/>
        </p:spPr>
        <p:txBody>
          <a:bodyPr wrap="square" rtlCol="0" anchor="ctr"/>
          <a:lstStyle/>
          <a:p>
            <a:pPr indent="0" marL="0">
              <a:buNone/>
            </a:pPr>
            <a:r>
              <a:rPr lang="en-US" sz="1100" dirty="0">
                <a:solidFill>
                  <a:srgbClr val="FFFFFF"/>
                </a:solidFill>
                <a:latin typeface="Trebuchet MS" pitchFamily="34" charset="0"/>
                <a:ea typeface="Trebuchet MS" pitchFamily="34" charset="-122"/>
                <a:cs typeface="Trebuchet MS" pitchFamily="34" charset="-120"/>
              </a:rPr>
              <a:t>Min-Max normalisation</a:t>
            </a:r>
            <a:endParaRPr lang="en-US" sz="1100" dirty="0"/>
          </a:p>
        </p:txBody>
      </p:sp>
      <p:sp>
        <p:nvSpPr>
          <p:cNvPr id="18" name="Text 16"/>
          <p:cNvSpPr/>
          <p:nvPr/>
        </p:nvSpPr>
        <p:spPr>
          <a:xfrm>
            <a:off x="2551176" y="2286000"/>
            <a:ext cx="1700784" cy="365760"/>
          </a:xfrm>
          <a:prstGeom prst="rect">
            <a:avLst/>
          </a:prstGeom>
          <a:noFill/>
          <a:ln/>
        </p:spPr>
        <p:txBody>
          <a:bodyPr wrap="square" rtlCol="0" anchor="ctr"/>
          <a:lstStyle/>
          <a:p>
            <a:pPr indent="0" marL="0">
              <a:buNone/>
            </a:pPr>
            <a:r>
              <a:rPr lang="en-US" sz="1100" dirty="0">
                <a:solidFill>
                  <a:srgbClr val="FFFFFF"/>
                </a:solidFill>
                <a:latin typeface="Trebuchet MS" pitchFamily="34" charset="0"/>
                <a:ea typeface="Trebuchet MS" pitchFamily="34" charset="-122"/>
                <a:cs typeface="Trebuchet MS" pitchFamily="34" charset="-120"/>
              </a:rPr>
              <a:t>36 races × 5 sponsors</a:t>
            </a:r>
            <a:endParaRPr lang="en-US" sz="1100" dirty="0"/>
          </a:p>
        </p:txBody>
      </p:sp>
      <p:sp>
        <p:nvSpPr>
          <p:cNvPr id="19" name="Text 17"/>
          <p:cNvSpPr/>
          <p:nvPr/>
        </p:nvSpPr>
        <p:spPr>
          <a:xfrm>
            <a:off x="2551176" y="2697480"/>
            <a:ext cx="1700784" cy="365760"/>
          </a:xfrm>
          <a:prstGeom prst="rect">
            <a:avLst/>
          </a:prstGeom>
          <a:noFill/>
          <a:ln/>
        </p:spPr>
        <p:txBody>
          <a:bodyPr wrap="square" rtlCol="0" anchor="ctr"/>
          <a:lstStyle/>
          <a:p>
            <a:pPr indent="0" marL="0">
              <a:buNone/>
            </a:pPr>
            <a:r>
              <a:rPr lang="en-US" sz="1100" dirty="0">
                <a:solidFill>
                  <a:srgbClr val="FFFFFF"/>
                </a:solidFill>
                <a:latin typeface="Trebuchet MS" pitchFamily="34" charset="0"/>
                <a:ea typeface="Trebuchet MS" pitchFamily="34" charset="-122"/>
                <a:cs typeface="Trebuchet MS" pitchFamily="34" charset="-120"/>
              </a:rPr>
              <a:t>= 180 records total</a:t>
            </a:r>
            <a:endParaRPr lang="en-US" sz="1100" dirty="0"/>
          </a:p>
        </p:txBody>
      </p:sp>
      <p:sp>
        <p:nvSpPr>
          <p:cNvPr id="20" name="Shape 18"/>
          <p:cNvSpPr/>
          <p:nvPr/>
        </p:nvSpPr>
        <p:spPr>
          <a:xfrm>
            <a:off x="4361688" y="2267712"/>
            <a:ext cx="91440" cy="128016"/>
          </a:xfrm>
          <a:prstGeom prst="rect">
            <a:avLst/>
          </a:prstGeom>
          <a:solidFill>
            <a:srgbClr val="7F8C9A"/>
          </a:solidFill>
          <a:ln/>
        </p:spPr>
      </p:sp>
      <p:sp>
        <p:nvSpPr>
          <p:cNvPr id="21" name="Shape 19"/>
          <p:cNvSpPr/>
          <p:nvPr/>
        </p:nvSpPr>
        <p:spPr>
          <a:xfrm>
            <a:off x="4471416" y="960120"/>
            <a:ext cx="1920240" cy="2834640"/>
          </a:xfrm>
          <a:prstGeom prst="rect">
            <a:avLst/>
          </a:prstGeom>
          <a:solidFill>
            <a:srgbClr val="2E6EA6"/>
          </a:solidFill>
          <a:ln/>
          <a:effectLst>
            <a:outerShdw sx="100000" sy="100000" kx="0" ky="0" algn="bl" rotWithShape="0" blurRad="101600" dist="38100" dir="8100000">
              <a:srgbClr val="000000">
                <a:alpha val="12000"/>
              </a:srgbClr>
            </a:outerShdw>
          </a:effectLst>
        </p:spPr>
      </p:sp>
      <p:sp>
        <p:nvSpPr>
          <p:cNvPr id="22" name="Text 20"/>
          <p:cNvSpPr/>
          <p:nvPr/>
        </p:nvSpPr>
        <p:spPr>
          <a:xfrm>
            <a:off x="4581144" y="1024128"/>
            <a:ext cx="1700784" cy="320040"/>
          </a:xfrm>
          <a:prstGeom prst="rect">
            <a:avLst/>
          </a:prstGeom>
          <a:noFill/>
          <a:ln/>
        </p:spPr>
        <p:txBody>
          <a:bodyPr wrap="square" rtlCol="0" anchor="ctr"/>
          <a:lstStyle/>
          <a:p>
            <a:pPr indent="0" marL="0">
              <a:buNone/>
            </a:pPr>
            <a:r>
              <a:rPr lang="en-US" sz="900" b="1" spc="50" kern="0" dirty="0">
                <a:solidFill>
                  <a:srgbClr val="FFFFFF"/>
                </a:solidFill>
                <a:latin typeface="Trebuchet MS" pitchFamily="34" charset="0"/>
                <a:ea typeface="Trebuchet MS" pitchFamily="34" charset="-122"/>
                <a:cs typeface="Trebuchet MS" pitchFamily="34" charset="-120"/>
              </a:rPr>
              <a:t>03  RANKINGS</a:t>
            </a:r>
            <a:endParaRPr lang="en-US" sz="900" dirty="0"/>
          </a:p>
        </p:txBody>
      </p:sp>
      <p:sp>
        <p:nvSpPr>
          <p:cNvPr id="23" name="Shape 21"/>
          <p:cNvSpPr/>
          <p:nvPr/>
        </p:nvSpPr>
        <p:spPr>
          <a:xfrm>
            <a:off x="4581144" y="1371600"/>
            <a:ext cx="1700784" cy="18288"/>
          </a:xfrm>
          <a:prstGeom prst="rect">
            <a:avLst/>
          </a:prstGeom>
          <a:solidFill>
            <a:srgbClr val="FFFFFF">
              <a:alpha val="40000"/>
            </a:srgbClr>
          </a:solidFill>
          <a:ln/>
        </p:spPr>
      </p:sp>
      <p:sp>
        <p:nvSpPr>
          <p:cNvPr id="24" name="Text 22"/>
          <p:cNvSpPr/>
          <p:nvPr/>
        </p:nvSpPr>
        <p:spPr>
          <a:xfrm>
            <a:off x="4581144" y="1463040"/>
            <a:ext cx="1700784" cy="365760"/>
          </a:xfrm>
          <a:prstGeom prst="rect">
            <a:avLst/>
          </a:prstGeom>
          <a:noFill/>
          <a:ln/>
        </p:spPr>
        <p:txBody>
          <a:bodyPr wrap="square" rtlCol="0" anchor="ctr"/>
          <a:lstStyle/>
          <a:p>
            <a:pPr indent="0" marL="0">
              <a:buNone/>
            </a:pPr>
            <a:r>
              <a:rPr lang="en-US" sz="1100" dirty="0">
                <a:solidFill>
                  <a:srgbClr val="FFFFFF"/>
                </a:solidFill>
                <a:latin typeface="Trebuchet MS" pitchFamily="34" charset="0"/>
                <a:ea typeface="Trebuchet MS" pitchFamily="34" charset="-122"/>
                <a:cs typeface="Trebuchet MS" pitchFamily="34" charset="-120"/>
              </a:rPr>
              <a:t>Season visibility score</a:t>
            </a:r>
            <a:endParaRPr lang="en-US" sz="1100" dirty="0"/>
          </a:p>
        </p:txBody>
      </p:sp>
      <p:sp>
        <p:nvSpPr>
          <p:cNvPr id="25" name="Text 23"/>
          <p:cNvSpPr/>
          <p:nvPr/>
        </p:nvSpPr>
        <p:spPr>
          <a:xfrm>
            <a:off x="4581144" y="1874520"/>
            <a:ext cx="1700784" cy="365760"/>
          </a:xfrm>
          <a:prstGeom prst="rect">
            <a:avLst/>
          </a:prstGeom>
          <a:noFill/>
          <a:ln/>
        </p:spPr>
        <p:txBody>
          <a:bodyPr wrap="square" rtlCol="0" anchor="ctr"/>
          <a:lstStyle/>
          <a:p>
            <a:pPr indent="0" marL="0">
              <a:buNone/>
            </a:pPr>
            <a:r>
              <a:rPr lang="en-US" sz="1100" dirty="0">
                <a:solidFill>
                  <a:srgbClr val="FFFFFF"/>
                </a:solidFill>
                <a:latin typeface="Trebuchet MS" pitchFamily="34" charset="0"/>
                <a:ea typeface="Trebuchet MS" pitchFamily="34" charset="-122"/>
                <a:cs typeface="Trebuchet MS" pitchFamily="34" charset="-120"/>
              </a:rPr>
              <a:t>Max: 3,600 pts/season</a:t>
            </a:r>
            <a:endParaRPr lang="en-US" sz="1100" dirty="0"/>
          </a:p>
        </p:txBody>
      </p:sp>
      <p:sp>
        <p:nvSpPr>
          <p:cNvPr id="26" name="Text 24"/>
          <p:cNvSpPr/>
          <p:nvPr/>
        </p:nvSpPr>
        <p:spPr>
          <a:xfrm>
            <a:off x="4581144" y="2286000"/>
            <a:ext cx="1700784" cy="365760"/>
          </a:xfrm>
          <a:prstGeom prst="rect">
            <a:avLst/>
          </a:prstGeom>
          <a:noFill/>
          <a:ln/>
        </p:spPr>
        <p:txBody>
          <a:bodyPr wrap="square" rtlCol="0" anchor="ctr"/>
          <a:lstStyle/>
          <a:p>
            <a:pPr indent="0" marL="0">
              <a:buNone/>
            </a:pPr>
            <a:r>
              <a:rPr lang="en-US" sz="1100" dirty="0">
                <a:solidFill>
                  <a:srgbClr val="FFFFFF"/>
                </a:solidFill>
                <a:latin typeface="Trebuchet MS" pitchFamily="34" charset="0"/>
                <a:ea typeface="Trebuchet MS" pitchFamily="34" charset="-122"/>
                <a:cs typeface="Trebuchet MS" pitchFamily="34" charset="-120"/>
              </a:rPr>
              <a:t>Efficiency = pts per $M</a:t>
            </a:r>
            <a:endParaRPr lang="en-US" sz="1100" dirty="0"/>
          </a:p>
        </p:txBody>
      </p:sp>
      <p:sp>
        <p:nvSpPr>
          <p:cNvPr id="27" name="Text 25"/>
          <p:cNvSpPr/>
          <p:nvPr/>
        </p:nvSpPr>
        <p:spPr>
          <a:xfrm>
            <a:off x="4581144" y="2697480"/>
            <a:ext cx="1700784" cy="365760"/>
          </a:xfrm>
          <a:prstGeom prst="rect">
            <a:avLst/>
          </a:prstGeom>
          <a:noFill/>
          <a:ln/>
        </p:spPr>
        <p:txBody>
          <a:bodyPr wrap="square" rtlCol="0" anchor="ctr"/>
          <a:lstStyle/>
          <a:p>
            <a:pPr indent="0" marL="0">
              <a:buNone/>
            </a:pPr>
            <a:r>
              <a:rPr lang="en-US" sz="1100" dirty="0">
                <a:solidFill>
                  <a:srgbClr val="FFFFFF"/>
                </a:solidFill>
                <a:latin typeface="Trebuchet MS" pitchFamily="34" charset="0"/>
                <a:ea typeface="Trebuchet MS" pitchFamily="34" charset="-122"/>
                <a:cs typeface="Trebuchet MS" pitchFamily="34" charset="-120"/>
              </a:rPr>
              <a:t>6/6 validation checks</a:t>
            </a:r>
            <a:endParaRPr lang="en-US" sz="1100" dirty="0"/>
          </a:p>
        </p:txBody>
      </p:sp>
      <p:sp>
        <p:nvSpPr>
          <p:cNvPr id="28" name="Shape 26"/>
          <p:cNvSpPr/>
          <p:nvPr/>
        </p:nvSpPr>
        <p:spPr>
          <a:xfrm>
            <a:off x="6391656" y="2267712"/>
            <a:ext cx="91440" cy="128016"/>
          </a:xfrm>
          <a:prstGeom prst="rect">
            <a:avLst/>
          </a:prstGeom>
          <a:solidFill>
            <a:srgbClr val="7F8C9A"/>
          </a:solidFill>
          <a:ln/>
        </p:spPr>
      </p:sp>
      <p:sp>
        <p:nvSpPr>
          <p:cNvPr id="29" name="Shape 27"/>
          <p:cNvSpPr/>
          <p:nvPr/>
        </p:nvSpPr>
        <p:spPr>
          <a:xfrm>
            <a:off x="6501384" y="960120"/>
            <a:ext cx="1920240" cy="2834640"/>
          </a:xfrm>
          <a:prstGeom prst="rect">
            <a:avLst/>
          </a:prstGeom>
          <a:solidFill>
            <a:srgbClr val="F4A700"/>
          </a:solidFill>
          <a:ln/>
          <a:effectLst>
            <a:outerShdw sx="100000" sy="100000" kx="0" ky="0" algn="bl" rotWithShape="0" blurRad="101600" dist="38100" dir="8100000">
              <a:srgbClr val="000000">
                <a:alpha val="12000"/>
              </a:srgbClr>
            </a:outerShdw>
          </a:effectLst>
        </p:spPr>
      </p:sp>
      <p:sp>
        <p:nvSpPr>
          <p:cNvPr id="30" name="Text 28"/>
          <p:cNvSpPr/>
          <p:nvPr/>
        </p:nvSpPr>
        <p:spPr>
          <a:xfrm>
            <a:off x="6611112" y="1024128"/>
            <a:ext cx="1700784" cy="320040"/>
          </a:xfrm>
          <a:prstGeom prst="rect">
            <a:avLst/>
          </a:prstGeom>
          <a:noFill/>
          <a:ln/>
        </p:spPr>
        <p:txBody>
          <a:bodyPr wrap="square" rtlCol="0" anchor="ctr"/>
          <a:lstStyle/>
          <a:p>
            <a:pPr indent="0" marL="0">
              <a:buNone/>
            </a:pPr>
            <a:r>
              <a:rPr lang="en-US" sz="900" b="1" spc="50" kern="0" dirty="0">
                <a:solidFill>
                  <a:srgbClr val="1B3A5C"/>
                </a:solidFill>
                <a:latin typeface="Trebuchet MS" pitchFamily="34" charset="0"/>
                <a:ea typeface="Trebuchet MS" pitchFamily="34" charset="-122"/>
                <a:cs typeface="Trebuchet MS" pitchFamily="34" charset="-120"/>
              </a:rPr>
              <a:t>04  RECOMMENDATIONS</a:t>
            </a:r>
            <a:endParaRPr lang="en-US" sz="900" dirty="0"/>
          </a:p>
        </p:txBody>
      </p:sp>
      <p:sp>
        <p:nvSpPr>
          <p:cNvPr id="31" name="Shape 29"/>
          <p:cNvSpPr/>
          <p:nvPr/>
        </p:nvSpPr>
        <p:spPr>
          <a:xfrm>
            <a:off x="6611112" y="1371600"/>
            <a:ext cx="1700784" cy="18288"/>
          </a:xfrm>
          <a:prstGeom prst="rect">
            <a:avLst/>
          </a:prstGeom>
          <a:solidFill>
            <a:srgbClr val="FFFFFF"/>
          </a:solidFill>
          <a:ln/>
        </p:spPr>
      </p:sp>
      <p:sp>
        <p:nvSpPr>
          <p:cNvPr id="32" name="Text 30"/>
          <p:cNvSpPr/>
          <p:nvPr/>
        </p:nvSpPr>
        <p:spPr>
          <a:xfrm>
            <a:off x="6611112" y="1463040"/>
            <a:ext cx="1700784" cy="365760"/>
          </a:xfrm>
          <a:prstGeom prst="rect">
            <a:avLst/>
          </a:prstGeom>
          <a:noFill/>
          <a:ln/>
        </p:spPr>
        <p:txBody>
          <a:bodyPr wrap="square" rtlCol="0" anchor="ctr"/>
          <a:lstStyle/>
          <a:p>
            <a:pPr indent="0" marL="0">
              <a:buNone/>
            </a:pPr>
            <a:r>
              <a:rPr lang="en-US" sz="1100" dirty="0">
                <a:solidFill>
                  <a:srgbClr val="1A1A2E"/>
                </a:solidFill>
                <a:latin typeface="Trebuchet MS" pitchFamily="34" charset="0"/>
                <a:ea typeface="Trebuchet MS" pitchFamily="34" charset="-122"/>
                <a:cs typeface="Trebuchet MS" pitchFamily="34" charset="-120"/>
              </a:rPr>
              <a:t>3 strategic scenarios</a:t>
            </a:r>
            <a:endParaRPr lang="en-US" sz="1100" dirty="0"/>
          </a:p>
        </p:txBody>
      </p:sp>
      <p:sp>
        <p:nvSpPr>
          <p:cNvPr id="33" name="Text 31"/>
          <p:cNvSpPr/>
          <p:nvPr/>
        </p:nvSpPr>
        <p:spPr>
          <a:xfrm>
            <a:off x="6611112" y="1874520"/>
            <a:ext cx="1700784" cy="365760"/>
          </a:xfrm>
          <a:prstGeom prst="rect">
            <a:avLst/>
          </a:prstGeom>
          <a:noFill/>
          <a:ln/>
        </p:spPr>
        <p:txBody>
          <a:bodyPr wrap="square" rtlCol="0" anchor="ctr"/>
          <a:lstStyle/>
          <a:p>
            <a:pPr indent="0" marL="0">
              <a:buNone/>
            </a:pPr>
            <a:r>
              <a:rPr lang="en-US" sz="1100" dirty="0">
                <a:solidFill>
                  <a:srgbClr val="1A1A2E"/>
                </a:solidFill>
                <a:latin typeface="Trebuchet MS" pitchFamily="34" charset="0"/>
                <a:ea typeface="Trebuchet MS" pitchFamily="34" charset="-122"/>
                <a:cs typeface="Trebuchet MS" pitchFamily="34" charset="-120"/>
              </a:rPr>
              <a:t>Sensitivity-tested</a:t>
            </a:r>
            <a:endParaRPr lang="en-US" sz="1100" dirty="0"/>
          </a:p>
        </p:txBody>
      </p:sp>
      <p:sp>
        <p:nvSpPr>
          <p:cNvPr id="34" name="Text 32"/>
          <p:cNvSpPr/>
          <p:nvPr/>
        </p:nvSpPr>
        <p:spPr>
          <a:xfrm>
            <a:off x="6611112" y="2286000"/>
            <a:ext cx="1700784" cy="365760"/>
          </a:xfrm>
          <a:prstGeom prst="rect">
            <a:avLst/>
          </a:prstGeom>
          <a:noFill/>
          <a:ln/>
        </p:spPr>
        <p:txBody>
          <a:bodyPr wrap="square" rtlCol="0" anchor="ctr"/>
          <a:lstStyle/>
          <a:p>
            <a:pPr indent="0" marL="0">
              <a:buNone/>
            </a:pPr>
            <a:r>
              <a:rPr lang="en-US" sz="1100" dirty="0">
                <a:solidFill>
                  <a:srgbClr val="1A1A2E"/>
                </a:solidFill>
                <a:latin typeface="Trebuchet MS" pitchFamily="34" charset="0"/>
                <a:ea typeface="Trebuchet MS" pitchFamily="34" charset="-122"/>
                <a:cs typeface="Trebuchet MS" pitchFamily="34" charset="-120"/>
              </a:rPr>
              <a:t>Cost range analysis</a:t>
            </a:r>
            <a:endParaRPr lang="en-US" sz="1100" dirty="0"/>
          </a:p>
        </p:txBody>
      </p:sp>
      <p:sp>
        <p:nvSpPr>
          <p:cNvPr id="35" name="Text 33"/>
          <p:cNvSpPr/>
          <p:nvPr/>
        </p:nvSpPr>
        <p:spPr>
          <a:xfrm>
            <a:off x="6611112" y="2697480"/>
            <a:ext cx="1700784" cy="365760"/>
          </a:xfrm>
          <a:prstGeom prst="rect">
            <a:avLst/>
          </a:prstGeom>
          <a:noFill/>
          <a:ln/>
        </p:spPr>
        <p:txBody>
          <a:bodyPr wrap="square" rtlCol="0" anchor="ctr"/>
          <a:lstStyle/>
          <a:p>
            <a:pPr indent="0" marL="0">
              <a:buNone/>
            </a:pPr>
            <a:r>
              <a:rPr lang="en-US" sz="1100" dirty="0">
                <a:solidFill>
                  <a:srgbClr val="1A1A2E"/>
                </a:solidFill>
                <a:latin typeface="Trebuchet MS" pitchFamily="34" charset="0"/>
                <a:ea typeface="Trebuchet MS" pitchFamily="34" charset="-122"/>
                <a:cs typeface="Trebuchet MS" pitchFamily="34" charset="-120"/>
              </a:rPr>
              <a:t>Stakeholder-ready</a:t>
            </a:r>
            <a:endParaRPr lang="en-US" sz="1100" dirty="0"/>
          </a:p>
        </p:txBody>
      </p:sp>
      <p:sp>
        <p:nvSpPr>
          <p:cNvPr id="36" name="Shape 34"/>
          <p:cNvSpPr/>
          <p:nvPr/>
        </p:nvSpPr>
        <p:spPr>
          <a:xfrm>
            <a:off x="411480" y="3977640"/>
            <a:ext cx="2011680" cy="347472"/>
          </a:xfrm>
          <a:prstGeom prst="roundRect">
            <a:avLst>
              <a:gd name="adj" fmla="val 21053"/>
            </a:avLst>
          </a:prstGeom>
          <a:solidFill>
            <a:srgbClr val="EFF4FA"/>
          </a:solidFill>
          <a:ln w="6350">
            <a:solidFill>
              <a:srgbClr val="BDD4E7"/>
            </a:solidFill>
            <a:prstDash val="solid"/>
          </a:ln>
        </p:spPr>
      </p:sp>
      <p:sp>
        <p:nvSpPr>
          <p:cNvPr id="37" name="Text 35"/>
          <p:cNvSpPr/>
          <p:nvPr/>
        </p:nvSpPr>
        <p:spPr>
          <a:xfrm>
            <a:off x="411480" y="3977640"/>
            <a:ext cx="2011680" cy="347472"/>
          </a:xfrm>
          <a:prstGeom prst="rect">
            <a:avLst/>
          </a:prstGeom>
          <a:noFill/>
          <a:ln/>
        </p:spPr>
        <p:txBody>
          <a:bodyPr wrap="square" rtlCol="0" anchor="ctr"/>
          <a:lstStyle/>
          <a:p>
            <a:pPr algn="ctr" indent="0" marL="0">
              <a:buNone/>
            </a:pPr>
            <a:r>
              <a:rPr lang="en-US" sz="950" b="1" dirty="0">
                <a:solidFill>
                  <a:srgbClr val="1B3A5C"/>
                </a:solidFill>
                <a:latin typeface="Trebuchet MS" pitchFamily="34" charset="0"/>
                <a:ea typeface="Trebuchet MS" pitchFamily="34" charset="-122"/>
                <a:cs typeface="Trebuchet MS" pitchFamily="34" charset="-120"/>
              </a:rPr>
              <a:t>5 Sponsors Tracked</a:t>
            </a:r>
            <a:endParaRPr lang="en-US" sz="950" dirty="0"/>
          </a:p>
        </p:txBody>
      </p:sp>
      <p:sp>
        <p:nvSpPr>
          <p:cNvPr id="38" name="Shape 36"/>
          <p:cNvSpPr/>
          <p:nvPr/>
        </p:nvSpPr>
        <p:spPr>
          <a:xfrm>
            <a:off x="2587752" y="3977640"/>
            <a:ext cx="2011680" cy="347472"/>
          </a:xfrm>
          <a:prstGeom prst="roundRect">
            <a:avLst>
              <a:gd name="adj" fmla="val 21053"/>
            </a:avLst>
          </a:prstGeom>
          <a:solidFill>
            <a:srgbClr val="EFF4FA"/>
          </a:solidFill>
          <a:ln w="6350">
            <a:solidFill>
              <a:srgbClr val="BDD4E7"/>
            </a:solidFill>
            <a:prstDash val="solid"/>
          </a:ln>
        </p:spPr>
      </p:sp>
      <p:sp>
        <p:nvSpPr>
          <p:cNvPr id="39" name="Text 37"/>
          <p:cNvSpPr/>
          <p:nvPr/>
        </p:nvSpPr>
        <p:spPr>
          <a:xfrm>
            <a:off x="2587752" y="3977640"/>
            <a:ext cx="2011680" cy="347472"/>
          </a:xfrm>
          <a:prstGeom prst="rect">
            <a:avLst/>
          </a:prstGeom>
          <a:noFill/>
          <a:ln/>
        </p:spPr>
        <p:txBody>
          <a:bodyPr wrap="square" rtlCol="0" anchor="ctr"/>
          <a:lstStyle/>
          <a:p>
            <a:pPr algn="ctr" indent="0" marL="0">
              <a:buNone/>
            </a:pPr>
            <a:r>
              <a:rPr lang="en-US" sz="950" b="1" dirty="0">
                <a:solidFill>
                  <a:srgbClr val="1B3A5C"/>
                </a:solidFill>
                <a:latin typeface="Trebuchet MS" pitchFamily="34" charset="0"/>
                <a:ea typeface="Trebuchet MS" pitchFamily="34" charset="-122"/>
                <a:cs typeface="Trebuchet MS" pitchFamily="34" charset="-120"/>
              </a:rPr>
              <a:t>36 Races</a:t>
            </a:r>
            <a:endParaRPr lang="en-US" sz="950" dirty="0"/>
          </a:p>
        </p:txBody>
      </p:sp>
      <p:sp>
        <p:nvSpPr>
          <p:cNvPr id="40" name="Shape 38"/>
          <p:cNvSpPr/>
          <p:nvPr/>
        </p:nvSpPr>
        <p:spPr>
          <a:xfrm>
            <a:off x="4764024" y="3977640"/>
            <a:ext cx="2011680" cy="347472"/>
          </a:xfrm>
          <a:prstGeom prst="roundRect">
            <a:avLst>
              <a:gd name="adj" fmla="val 21053"/>
            </a:avLst>
          </a:prstGeom>
          <a:solidFill>
            <a:srgbClr val="EFF4FA"/>
          </a:solidFill>
          <a:ln w="6350">
            <a:solidFill>
              <a:srgbClr val="BDD4E7"/>
            </a:solidFill>
            <a:prstDash val="solid"/>
          </a:ln>
        </p:spPr>
      </p:sp>
      <p:sp>
        <p:nvSpPr>
          <p:cNvPr id="41" name="Text 39"/>
          <p:cNvSpPr/>
          <p:nvPr/>
        </p:nvSpPr>
        <p:spPr>
          <a:xfrm>
            <a:off x="4764024" y="3977640"/>
            <a:ext cx="2011680" cy="347472"/>
          </a:xfrm>
          <a:prstGeom prst="rect">
            <a:avLst/>
          </a:prstGeom>
          <a:noFill/>
          <a:ln/>
        </p:spPr>
        <p:txBody>
          <a:bodyPr wrap="square" rtlCol="0" anchor="ctr"/>
          <a:lstStyle/>
          <a:p>
            <a:pPr algn="ctr" indent="0" marL="0">
              <a:buNone/>
            </a:pPr>
            <a:r>
              <a:rPr lang="en-US" sz="950" b="1" dirty="0">
                <a:solidFill>
                  <a:srgbClr val="1B3A5C"/>
                </a:solidFill>
                <a:latin typeface="Trebuchet MS" pitchFamily="34" charset="0"/>
                <a:ea typeface="Trebuchet MS" pitchFamily="34" charset="-122"/>
                <a:cs typeface="Trebuchet MS" pitchFamily="34" charset="-120"/>
              </a:rPr>
              <a:t>180 Data Records</a:t>
            </a:r>
            <a:endParaRPr lang="en-US" sz="950" dirty="0"/>
          </a:p>
        </p:txBody>
      </p:sp>
      <p:sp>
        <p:nvSpPr>
          <p:cNvPr id="42" name="Shape 40"/>
          <p:cNvSpPr/>
          <p:nvPr/>
        </p:nvSpPr>
        <p:spPr>
          <a:xfrm>
            <a:off x="6940296" y="3977640"/>
            <a:ext cx="2011680" cy="347472"/>
          </a:xfrm>
          <a:prstGeom prst="roundRect">
            <a:avLst>
              <a:gd name="adj" fmla="val 21053"/>
            </a:avLst>
          </a:prstGeom>
          <a:solidFill>
            <a:srgbClr val="EFF4FA"/>
          </a:solidFill>
          <a:ln w="6350">
            <a:solidFill>
              <a:srgbClr val="BDD4E7"/>
            </a:solidFill>
            <a:prstDash val="solid"/>
          </a:ln>
        </p:spPr>
      </p:sp>
      <p:sp>
        <p:nvSpPr>
          <p:cNvPr id="43" name="Text 41"/>
          <p:cNvSpPr/>
          <p:nvPr/>
        </p:nvSpPr>
        <p:spPr>
          <a:xfrm>
            <a:off x="6940296" y="3977640"/>
            <a:ext cx="2011680" cy="347472"/>
          </a:xfrm>
          <a:prstGeom prst="rect">
            <a:avLst/>
          </a:prstGeom>
          <a:noFill/>
          <a:ln/>
        </p:spPr>
        <p:txBody>
          <a:bodyPr wrap="square" rtlCol="0" anchor="ctr"/>
          <a:lstStyle/>
          <a:p>
            <a:pPr algn="ctr" indent="0" marL="0">
              <a:buNone/>
            </a:pPr>
            <a:r>
              <a:rPr lang="en-US" sz="950" b="1" dirty="0">
                <a:solidFill>
                  <a:srgbClr val="1B3A5C"/>
                </a:solidFill>
                <a:latin typeface="Trebuchet MS" pitchFamily="34" charset="0"/>
                <a:ea typeface="Trebuchet MS" pitchFamily="34" charset="-122"/>
                <a:cs typeface="Trebuchet MS" pitchFamily="34" charset="-120"/>
              </a:rPr>
              <a:t>8 / 8 Correlations Significant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rtlCol="0" anchor="ctr"/>
          <a:lstStyle/>
          <a:p>
            <a:pPr indent="0" marL="0">
              <a:buNone/>
            </a:pPr>
            <a:r>
              <a:rPr lang="en-US" sz="1600" b="1" dirty="0">
                <a:solidFill>
                  <a:srgbClr val="1B3A5C"/>
                </a:solidFill>
                <a:latin typeface="Arial" pitchFamily="34" charset="0"/>
                <a:ea typeface="Arial" pitchFamily="34" charset="-122"/>
                <a:cs typeface="Arial" pitchFamily="34" charset="-120"/>
              </a:rPr>
              <a:t>Our Findings Are Robust — With One Critical Caveat on Cost Estimates</a:t>
            </a:r>
            <a:endParaRPr lang="en-US" sz="1600" dirty="0"/>
          </a:p>
        </p:txBody>
      </p:sp>
      <p:sp>
        <p:nvSpPr>
          <p:cNvPr id="3" name="Shape 1"/>
          <p:cNvSpPr/>
          <p:nvPr/>
        </p:nvSpPr>
        <p:spPr>
          <a:xfrm>
            <a:off x="411480" y="731520"/>
            <a:ext cx="8321040" cy="22860"/>
          </a:xfrm>
          <a:prstGeom prst="rect">
            <a:avLst/>
          </a:prstGeom>
          <a:solidFill>
            <a:srgbClr val="26A69A"/>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868680"/>
          <a:ext cx="5303520" cy="2377440"/>
        </p:xfrm>
        <a:graphic>
          <a:graphicData uri="http://schemas.openxmlformats.org/drawingml/2006/table">
            <a:tbl>
              <a:tblPr/>
              <a:tblGrid>
                <a:gridCol w="1554480"/>
                <a:gridCol w="2377440"/>
                <a:gridCol w="1371600"/>
              </a:tblGrid>
              <a:tr h="475488">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Category</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1B3A5C"/>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Source</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1B3A5C"/>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Confidence</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1B3A5C"/>
                    </a:solidFill>
                  </a:tcPr>
                </a:tc>
              </a:tr>
              <a:tr h="475488">
                <a:tc>
                  <a:txBody>
                    <a:bodyPr/>
                    <a:lstStyle/>
                    <a:p>
                      <a:pPr indent="0" marL="0">
                        <a:buNone/>
                      </a:pPr>
                      <a:r>
                        <a:rPr lang="en-US" sz="1000" b="1" dirty="0">
                          <a:solidFill>
                            <a:srgbClr val="000000"/>
                          </a:solidFill>
                          <a:latin typeface="Trebuchet MS" pitchFamily="34" charset="0"/>
                          <a:ea typeface="Trebuchet MS" pitchFamily="34" charset="-122"/>
                          <a:cs typeface="Trebuchet MS" pitchFamily="34" charset="-120"/>
                        </a:rPr>
                        <a:t>Race Performance</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indent="0" marL="0">
                        <a:buNone/>
                      </a:pPr>
                      <a:r>
                        <a:rPr lang="en-US" sz="1000" dirty="0">
                          <a:solidFill>
                            <a:srgbClr val="000000"/>
                          </a:solidFill>
                          <a:latin typeface="Trebuchet MS" pitchFamily="34" charset="0"/>
                          <a:ea typeface="Trebuchet MS" pitchFamily="34" charset="-122"/>
                          <a:cs typeface="Trebuchet MS" pitchFamily="34" charset="-120"/>
                        </a:rPr>
                        <a:t>Kaggle + Racing Reference</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indent="0" marL="0">
                        <a:buNone/>
                      </a:pPr>
                      <a:r>
                        <a:rPr lang="en-US" sz="1000" b="1" dirty="0">
                          <a:solidFill>
                            <a:srgbClr val="1A6B35"/>
                          </a:solidFill>
                          <a:latin typeface="Trebuchet MS" pitchFamily="34" charset="0"/>
                          <a:ea typeface="Trebuchet MS" pitchFamily="34" charset="-122"/>
                          <a:cs typeface="Trebuchet MS" pitchFamily="34" charset="-120"/>
                        </a:rPr>
                        <a:t>High</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r>
              <a:tr h="475488">
                <a:tc>
                  <a:txBody>
                    <a:bodyPr/>
                    <a:lstStyle/>
                    <a:p>
                      <a:pPr indent="0" marL="0">
                        <a:buNone/>
                      </a:pPr>
                      <a:r>
                        <a:rPr lang="en-US" sz="1000" b="1" dirty="0">
                          <a:solidFill>
                            <a:srgbClr val="000000"/>
                          </a:solidFill>
                          <a:latin typeface="Trebuchet MS" pitchFamily="34" charset="0"/>
                          <a:ea typeface="Trebuchet MS" pitchFamily="34" charset="-122"/>
                          <a:cs typeface="Trebuchet MS" pitchFamily="34" charset="-120"/>
                        </a:rPr>
                        <a:t>Social Engagement</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indent="0" marL="0">
                        <a:buNone/>
                      </a:pPr>
                      <a:r>
                        <a:rPr lang="en-US" sz="1000" dirty="0">
                          <a:solidFill>
                            <a:srgbClr val="000000"/>
                          </a:solidFill>
                          <a:latin typeface="Trebuchet MS" pitchFamily="34" charset="0"/>
                          <a:ea typeface="Trebuchet MS" pitchFamily="34" charset="-122"/>
                          <a:cs typeface="Trebuchet MS" pitchFamily="34" charset="-120"/>
                        </a:rPr>
                        <a:t>Reddit API + YouTube Data API v3</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indent="0" marL="0">
                        <a:buNone/>
                      </a:pPr>
                      <a:r>
                        <a:rPr lang="en-US" sz="1000" b="1" dirty="0">
                          <a:solidFill>
                            <a:srgbClr val="1A6B35"/>
                          </a:solidFill>
                          <a:latin typeface="Trebuchet MS" pitchFamily="34" charset="0"/>
                          <a:ea typeface="Trebuchet MS" pitchFamily="34" charset="-122"/>
                          <a:cs typeface="Trebuchet MS" pitchFamily="34" charset="-120"/>
                        </a:rPr>
                        <a:t>Med-High</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r>
              <a:tr h="475488">
                <a:tc>
                  <a:txBody>
                    <a:bodyPr/>
                    <a:lstStyle/>
                    <a:p>
                      <a:pPr indent="0" marL="0">
                        <a:buNone/>
                      </a:pPr>
                      <a:r>
                        <a:rPr lang="en-US" sz="1000" b="1" dirty="0">
                          <a:solidFill>
                            <a:srgbClr val="000000"/>
                          </a:solidFill>
                          <a:latin typeface="Trebuchet MS" pitchFamily="34" charset="0"/>
                          <a:ea typeface="Trebuchet MS" pitchFamily="34" charset="-122"/>
                          <a:cs typeface="Trebuchet MS" pitchFamily="34" charset="-120"/>
                        </a:rPr>
                        <a:t>News Coverage</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indent="0" marL="0">
                        <a:buNone/>
                      </a:pPr>
                      <a:r>
                        <a:rPr lang="en-US" sz="1000" dirty="0">
                          <a:solidFill>
                            <a:srgbClr val="000000"/>
                          </a:solidFill>
                          <a:latin typeface="Trebuchet MS" pitchFamily="34" charset="0"/>
                          <a:ea typeface="Trebuchet MS" pitchFamily="34" charset="-122"/>
                          <a:cs typeface="Trebuchet MS" pitchFamily="34" charset="-120"/>
                        </a:rPr>
                        <a:t>Google News (quality-weighted)</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indent="0" marL="0">
                        <a:buNone/>
                      </a:pPr>
                      <a:r>
                        <a:rPr lang="en-US" sz="1000" b="1" dirty="0">
                          <a:solidFill>
                            <a:srgbClr val="2E6EA6"/>
                          </a:solidFill>
                          <a:latin typeface="Trebuchet MS" pitchFamily="34" charset="0"/>
                          <a:ea typeface="Trebuchet MS" pitchFamily="34" charset="-122"/>
                          <a:cs typeface="Trebuchet MS" pitchFamily="34" charset="-120"/>
                        </a:rPr>
                        <a:t>Medium</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r>
              <a:tr h="475488">
                <a:tc>
                  <a:txBody>
                    <a:bodyPr/>
                    <a:lstStyle/>
                    <a:p>
                      <a:pPr indent="0" marL="0">
                        <a:buNone/>
                      </a:pPr>
                      <a:r>
                        <a:rPr lang="en-US" sz="1000" b="1" dirty="0">
                          <a:solidFill>
                            <a:srgbClr val="000000"/>
                          </a:solidFill>
                          <a:latin typeface="Trebuchet MS" pitchFamily="34" charset="0"/>
                          <a:ea typeface="Trebuchet MS" pitchFamily="34" charset="-122"/>
                          <a:cs typeface="Trebuchet MS" pitchFamily="34" charset="-120"/>
                        </a:rPr>
                        <a:t>Sponsorship Costs</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indent="0" marL="0">
                        <a:buNone/>
                      </a:pPr>
                      <a:r>
                        <a:rPr lang="en-US" sz="1000" dirty="0">
                          <a:solidFill>
                            <a:srgbClr val="000000"/>
                          </a:solidFill>
                          <a:latin typeface="Trebuchet MS" pitchFamily="34" charset="0"/>
                          <a:ea typeface="Trebuchet MS" pitchFamily="34" charset="-122"/>
                          <a:cs typeface="Trebuchet MS" pitchFamily="34" charset="-120"/>
                        </a:rPr>
                        <a:t>Forbes / SBJ / Industry Benchmarks</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indent="0" marL="0">
                        <a:buNone/>
                      </a:pPr>
                      <a:r>
                        <a:rPr lang="en-US" sz="1000" b="1" dirty="0">
                          <a:solidFill>
                            <a:srgbClr val="C87F00"/>
                          </a:solidFill>
                          <a:latin typeface="Trebuchet MS" pitchFamily="34" charset="0"/>
                          <a:ea typeface="Trebuchet MS" pitchFamily="34" charset="-122"/>
                          <a:cs typeface="Trebuchet MS" pitchFamily="34" charset="-120"/>
                        </a:rPr>
                        <a:t>Low-Med ⚠</a:t>
                      </a:r>
                      <a:endParaRPr lang="en-US" sz="1000" dirty="0">
                        <a:latin typeface="Trebuchet MS" charset="0"/>
                        <a:ea typeface="Trebuchet MS" charset="0"/>
                        <a:cs typeface="Trebuchet MS" charset="0"/>
                      </a:endParaRPr>
                    </a:p>
                  </a:txBody>
                  <a:tcPr marL="91440" marR="91440" marT="45720" marB="45720">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r>
            </a:tbl>
          </a:graphicData>
        </a:graphic>
      </p:graphicFrame>
      <p:sp>
        <p:nvSpPr>
          <p:cNvPr id="5" name="Shape 2"/>
          <p:cNvSpPr/>
          <p:nvPr/>
        </p:nvSpPr>
        <p:spPr>
          <a:xfrm>
            <a:off x="411480" y="3337560"/>
            <a:ext cx="5303520" cy="502920"/>
          </a:xfrm>
          <a:prstGeom prst="rect">
            <a:avLst/>
          </a:prstGeom>
          <a:solidFill>
            <a:srgbClr val="EFF4FA"/>
          </a:solidFill>
          <a:ln w="6350">
            <a:solidFill>
              <a:srgbClr val="BDD4E7"/>
            </a:solidFill>
            <a:prstDash val="solid"/>
          </a:ln>
        </p:spPr>
      </p:sp>
      <p:sp>
        <p:nvSpPr>
          <p:cNvPr id="6" name="Text 3"/>
          <p:cNvSpPr/>
          <p:nvPr/>
        </p:nvSpPr>
        <p:spPr>
          <a:xfrm>
            <a:off x="502920" y="3337560"/>
            <a:ext cx="5120640" cy="502920"/>
          </a:xfrm>
          <a:prstGeom prst="rect">
            <a:avLst/>
          </a:prstGeom>
          <a:noFill/>
          <a:ln/>
        </p:spPr>
        <p:txBody>
          <a:bodyPr wrap="square" rtlCol="0" anchor="ctr"/>
          <a:lstStyle/>
          <a:p>
            <a:pPr indent="0" marL="0">
              <a:buNone/>
            </a:pPr>
            <a:r>
              <a:rPr lang="en-US" sz="1000" dirty="0">
                <a:solidFill>
                  <a:srgbClr val="1B3A5C"/>
                </a:solidFill>
                <a:latin typeface="Trebuchet MS" pitchFamily="34" charset="0"/>
                <a:ea typeface="Trebuchet MS" pitchFamily="34" charset="-122"/>
                <a:cs typeface="Trebuchet MS" pitchFamily="34" charset="-120"/>
              </a:rPr>
              <a:t>Model Validation: 6 of 6 integrity checks passed. Rankings perfectly stable across all 4 weight sensitivity scenarios.</a:t>
            </a:r>
            <a:endParaRPr lang="en-US" sz="1000" dirty="0"/>
          </a:p>
        </p:txBody>
      </p:sp>
      <p:sp>
        <p:nvSpPr>
          <p:cNvPr id="7" name="Shape 4"/>
          <p:cNvSpPr/>
          <p:nvPr/>
        </p:nvSpPr>
        <p:spPr>
          <a:xfrm>
            <a:off x="5897880" y="868680"/>
            <a:ext cx="2834640" cy="2971800"/>
          </a:xfrm>
          <a:prstGeom prst="rect">
            <a:avLst/>
          </a:prstGeom>
          <a:solidFill>
            <a:srgbClr val="FFF8E1"/>
          </a:solidFill>
          <a:ln w="25400">
            <a:solidFill>
              <a:srgbClr val="F4A700"/>
            </a:solidFill>
            <a:prstDash val="solid"/>
          </a:ln>
          <a:effectLst>
            <a:outerShdw sx="100000" sy="100000" kx="0" ky="0" algn="bl" rotWithShape="0" blurRad="101600" dist="38100" dir="8100000">
              <a:srgbClr val="000000">
                <a:alpha val="12000"/>
              </a:srgbClr>
            </a:outerShdw>
          </a:effectLst>
        </p:spPr>
      </p:sp>
      <p:sp>
        <p:nvSpPr>
          <p:cNvPr id="8" name="Shape 5"/>
          <p:cNvSpPr/>
          <p:nvPr/>
        </p:nvSpPr>
        <p:spPr>
          <a:xfrm>
            <a:off x="5897880" y="868680"/>
            <a:ext cx="2834640" cy="54864"/>
          </a:xfrm>
          <a:prstGeom prst="rect">
            <a:avLst/>
          </a:prstGeom>
          <a:solidFill>
            <a:srgbClr val="F4A700"/>
          </a:solidFill>
          <a:ln/>
        </p:spPr>
      </p:sp>
      <p:sp>
        <p:nvSpPr>
          <p:cNvPr id="9" name="Text 6"/>
          <p:cNvSpPr/>
          <p:nvPr/>
        </p:nvSpPr>
        <p:spPr>
          <a:xfrm>
            <a:off x="6035040" y="987552"/>
            <a:ext cx="2560320" cy="292608"/>
          </a:xfrm>
          <a:prstGeom prst="rect">
            <a:avLst/>
          </a:prstGeom>
          <a:noFill/>
          <a:ln/>
        </p:spPr>
        <p:txBody>
          <a:bodyPr wrap="square" rtlCol="0" anchor="ctr"/>
          <a:lstStyle/>
          <a:p>
            <a:pPr algn="ctr" indent="0" marL="0">
              <a:buNone/>
            </a:pPr>
            <a:r>
              <a:rPr lang="en-US" sz="1000" b="1" dirty="0">
                <a:solidFill>
                  <a:srgbClr val="8B5E00"/>
                </a:solidFill>
                <a:latin typeface="Trebuchet MS" pitchFamily="34" charset="0"/>
                <a:ea typeface="Trebuchet MS" pitchFamily="34" charset="-122"/>
                <a:cs typeface="Trebuchet MS" pitchFamily="34" charset="-120"/>
              </a:rPr>
              <a:t>⚠  COST ESTIMATE CAVEAT</a:t>
            </a:r>
            <a:endParaRPr lang="en-US" sz="1000" dirty="0"/>
          </a:p>
        </p:txBody>
      </p:sp>
      <p:sp>
        <p:nvSpPr>
          <p:cNvPr id="10" name="Text 7"/>
          <p:cNvSpPr/>
          <p:nvPr/>
        </p:nvSpPr>
        <p:spPr>
          <a:xfrm>
            <a:off x="6035040" y="1353312"/>
            <a:ext cx="2560320" cy="658368"/>
          </a:xfrm>
          <a:prstGeom prst="rect">
            <a:avLst/>
          </a:prstGeom>
          <a:noFill/>
          <a:ln/>
        </p:spPr>
        <p:txBody>
          <a:bodyPr wrap="square" rtlCol="0" anchor="ctr"/>
          <a:lstStyle/>
          <a:p>
            <a:pPr indent="0" marL="0">
              <a:buNone/>
            </a:pPr>
            <a:r>
              <a:rPr lang="en-US" sz="1050" dirty="0">
                <a:solidFill>
                  <a:srgbClr val="1A1A2E"/>
                </a:solidFill>
                <a:latin typeface="Trebuchet MS" pitchFamily="34" charset="0"/>
                <a:ea typeface="Trebuchet MS" pitchFamily="34" charset="-122"/>
                <a:cs typeface="Trebuchet MS" pitchFamily="34" charset="-120"/>
              </a:rPr>
              <a:t>Actual sponsorship contracts are confidential. Our cost figures carry ±20–30% uncertainty.</a:t>
            </a:r>
            <a:endParaRPr lang="en-US" sz="1050" dirty="0"/>
          </a:p>
        </p:txBody>
      </p:sp>
      <p:sp>
        <p:nvSpPr>
          <p:cNvPr id="11" name="Text 8"/>
          <p:cNvSpPr/>
          <p:nvPr/>
        </p:nvSpPr>
        <p:spPr>
          <a:xfrm>
            <a:off x="6035040" y="2066544"/>
            <a:ext cx="2560320" cy="594360"/>
          </a:xfrm>
          <a:prstGeom prst="rect">
            <a:avLst/>
          </a:prstGeom>
          <a:noFill/>
          <a:ln/>
        </p:spPr>
        <p:txBody>
          <a:bodyPr wrap="square" rtlCol="0" anchor="ctr"/>
          <a:lstStyle/>
          <a:p>
            <a:pPr indent="0" marL="0">
              <a:buNone/>
            </a:pPr>
            <a:r>
              <a:rPr lang="en-US" sz="1050" dirty="0">
                <a:solidFill>
                  <a:srgbClr val="1A1A2E"/>
                </a:solidFill>
                <a:latin typeface="Trebuchet MS" pitchFamily="34" charset="0"/>
                <a:ea typeface="Trebuchet MS" pitchFamily="34" charset="-122"/>
                <a:cs typeface="Trebuchet MS" pitchFamily="34" charset="-120"/>
              </a:rPr>
              <a:t>All efficiency rankings were tested against low, mid, and high cost scenarios.</a:t>
            </a:r>
            <a:endParaRPr lang="en-US" sz="1050" dirty="0"/>
          </a:p>
        </p:txBody>
      </p:sp>
      <p:sp>
        <p:nvSpPr>
          <p:cNvPr id="12" name="Text 9"/>
          <p:cNvSpPr/>
          <p:nvPr/>
        </p:nvSpPr>
        <p:spPr>
          <a:xfrm>
            <a:off x="6035040" y="2715768"/>
            <a:ext cx="2560320" cy="548640"/>
          </a:xfrm>
          <a:prstGeom prst="rect">
            <a:avLst/>
          </a:prstGeom>
          <a:noFill/>
          <a:ln/>
        </p:spPr>
        <p:txBody>
          <a:bodyPr wrap="square" rtlCol="0" anchor="ctr"/>
          <a:lstStyle/>
          <a:p>
            <a:pPr indent="0" marL="0">
              <a:buNone/>
            </a:pPr>
            <a:r>
              <a:rPr lang="en-US" sz="1050" b="1" i="1" dirty="0">
                <a:solidFill>
                  <a:srgbClr val="8B5E00"/>
                </a:solidFill>
                <a:latin typeface="Trebuchet MS" pitchFamily="34" charset="0"/>
                <a:ea typeface="Trebuchet MS" pitchFamily="34" charset="-122"/>
                <a:cs typeface="Trebuchet MS" pitchFamily="34" charset="-120"/>
              </a:rPr>
              <a:t>Rankings are stable — but verify with real quotes before negotiating.</a:t>
            </a:r>
            <a:endParaRPr lang="en-US" sz="1050" dirty="0"/>
          </a:p>
        </p:txBody>
      </p:sp>
      <p:sp>
        <p:nvSpPr>
          <p:cNvPr id="13" name="Text 10"/>
          <p:cNvSpPr/>
          <p:nvPr/>
        </p:nvSpPr>
        <p:spPr>
          <a:xfrm>
            <a:off x="411480" y="4462272"/>
            <a:ext cx="8321040" cy="438912"/>
          </a:xfrm>
          <a:prstGeom prst="rect">
            <a:avLst/>
          </a:prstGeom>
          <a:noFill/>
          <a:ln/>
        </p:spPr>
        <p:txBody>
          <a:bodyPr wrap="square" rtlCol="0" anchor="ctr"/>
          <a:lstStyle/>
          <a:p>
            <a:pPr indent="0" marL="0">
              <a:buNone/>
            </a:pPr>
            <a:r>
              <a:rPr lang="en-US" sz="950" i="1" dirty="0">
                <a:solidFill>
                  <a:srgbClr val="7F8C9A"/>
                </a:solidFill>
                <a:latin typeface="Trebuchet MS" pitchFamily="34" charset="0"/>
                <a:ea typeface="Trebuchet MS" pitchFamily="34" charset="-122"/>
                <a:cs typeface="Trebuchet MS" pitchFamily="34" charset="-120"/>
              </a:rPr>
              <a:t>So what?  The race data, social data, and media data are solid. One area of uncertainty — costs — has been stress-tested. The conclusions hold.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6583680" y="-731520"/>
            <a:ext cx="4114800" cy="4114800"/>
          </a:xfrm>
          <a:prstGeom prst="ellipse">
            <a:avLst/>
          </a:prstGeom>
          <a:solidFill>
            <a:srgbClr val="2E6EA6">
              <a:alpha val="12000"/>
            </a:srgbClr>
          </a:solidFill>
          <a:ln/>
        </p:spPr>
      </p:sp>
      <p:sp>
        <p:nvSpPr>
          <p:cNvPr id="3" name="Text 1"/>
          <p:cNvSpPr/>
          <p:nvPr/>
        </p:nvSpPr>
        <p:spPr>
          <a:xfrm>
            <a:off x="411480" y="164592"/>
            <a:ext cx="8321040" cy="658368"/>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Laps Led Beats Finish Position on Every Channel — Mid-Race Dominance Is the Real Visibility Engine</a:t>
            </a:r>
            <a:endParaRPr lang="en-US" sz="1600" dirty="0"/>
          </a:p>
        </p:txBody>
      </p:sp>
      <p:sp>
        <p:nvSpPr>
          <p:cNvPr id="4" name="Shape 2"/>
          <p:cNvSpPr/>
          <p:nvPr/>
        </p:nvSpPr>
        <p:spPr>
          <a:xfrm>
            <a:off x="411480" y="832104"/>
            <a:ext cx="8321040" cy="22860"/>
          </a:xfrm>
          <a:prstGeom prst="rect">
            <a:avLst/>
          </a:prstGeom>
          <a:solidFill>
            <a:srgbClr val="26A69A"/>
          </a:solidFill>
          <a:ln/>
        </p:spPr>
      </p:sp>
      <p:sp>
        <p:nvSpPr>
          <p:cNvPr id="5" name="Text 3"/>
          <p:cNvSpPr/>
          <p:nvPr/>
        </p:nvSpPr>
        <p:spPr>
          <a:xfrm>
            <a:off x="411480" y="960120"/>
            <a:ext cx="3840480" cy="274320"/>
          </a:xfrm>
          <a:prstGeom prst="rect">
            <a:avLst/>
          </a:prstGeom>
          <a:noFill/>
          <a:ln/>
        </p:spPr>
        <p:txBody>
          <a:bodyPr wrap="square" rtlCol="0" anchor="ctr"/>
          <a:lstStyle/>
          <a:p>
            <a:pPr algn="ctr" indent="0" marL="0">
              <a:buNone/>
            </a:pPr>
            <a:r>
              <a:rPr lang="en-US" sz="1100" b="1" dirty="0">
                <a:solidFill>
                  <a:srgbClr val="26A69A"/>
                </a:solidFill>
                <a:latin typeface="Trebuchet MS" pitchFamily="34" charset="0"/>
              </a:rPr>
              <a:t>Pearson Correlation Coefficient</a:t>
            </a:r>
            <a:endParaRPr lang="en-US" sz="1100" dirty="0"/>
          </a:p>
        </p:txBody>
      </p:sp>
      <p:sp>
        <p:nvSpPr>
          <p:cNvPr id="5b" name="Text 3b"/>
          <p:cNvSpPr/>
          <p:nvPr/>
        </p:nvSpPr>
        <p:spPr>
          <a:xfrm>
            <a:off x="411480" y="1234440"/>
            <a:ext cx="3840480" cy="868680"/>
          </a:xfrm>
          <a:prstGeom prst="rect">
            <a:avLst/>
          </a:prstGeom>
          <a:noFill/>
          <a:ln/>
        </p:spPr>
        <p:txBody>
          <a:bodyPr wrap="square" rtlCol="0" anchor="ctr"/>
          <a:lstStyle/>
          <a:p>
            <a:pPr algn="ctr" indent="0" marL="0">
              <a:buNone/>
            </a:pPr>
            <a:r>
              <a:rPr lang="en-US" sz="5800" b="1" dirty="0">
                <a:solidFill>
                  <a:srgbClr val="F4A700"/>
                </a:solidFill>
                <a:latin typeface="Arial Black" pitchFamily="34" charset="0"/>
                <a:ea typeface="Arial Black" pitchFamily="34" charset="-122"/>
                <a:cs typeface="Arial Black" pitchFamily="34" charset="-120"/>
              </a:rPr>
              <a:t>+0.871</a:t>
            </a:r>
            <a:endParaRPr lang="en-US" sz="5800" dirty="0"/>
          </a:p>
        </p:txBody>
      </p:sp>
      <p:sp>
        <p:nvSpPr>
          <p:cNvPr id="6" name="Text 4"/>
          <p:cNvSpPr/>
          <p:nvPr/>
        </p:nvSpPr>
        <p:spPr>
          <a:xfrm>
            <a:off x="411480" y="2194560"/>
            <a:ext cx="3840480" cy="365760"/>
          </a:xfrm>
          <a:prstGeom prst="rect">
            <a:avLst/>
          </a:prstGeom>
          <a:noFill/>
          <a:ln/>
        </p:spPr>
        <p:txBody>
          <a:bodyPr wrap="square" rtlCol="0" anchor="ctr"/>
          <a:lstStyle/>
          <a:p>
            <a:pPr algn="ctr" indent="0" marL="0">
              <a:buNone/>
            </a:pPr>
            <a:r>
              <a:rPr lang="en-US" sz="1200" dirty="0">
                <a:solidFill>
                  <a:srgbClr val="BDD4E7"/>
                </a:solidFill>
                <a:latin typeface="Trebuchet MS" pitchFamily="34" charset="0"/>
                <a:ea typeface="Trebuchet MS" pitchFamily="34" charset="-122"/>
                <a:cs typeface="Trebuchet MS" pitchFamily="34" charset="-120"/>
              </a:rPr>
              <a:t>Laps Led → Reddit Mentions</a:t>
            </a:r>
            <a:endParaRPr lang="en-US" sz="1200" dirty="0"/>
          </a:p>
        </p:txBody>
      </p:sp>
      <p:sp>
        <p:nvSpPr>
          <p:cNvPr id="7" name="Text 5"/>
          <p:cNvSpPr/>
          <p:nvPr/>
        </p:nvSpPr>
        <p:spPr>
          <a:xfrm>
            <a:off x="411480" y="2423160"/>
            <a:ext cx="3840480" cy="548640"/>
          </a:xfrm>
          <a:prstGeom prst="rect">
            <a:avLst/>
          </a:prstGeom>
          <a:noFill/>
          <a:ln/>
        </p:spPr>
        <p:txBody>
          <a:bodyPr wrap="square" rtlCol="0" anchor="ctr"/>
          <a:lstStyle/>
          <a:p>
            <a:pPr algn="ctr" indent="0" marL="0">
              <a:buNone/>
            </a:pPr>
            <a:r>
              <a:rPr lang="en-US" sz="1050" i="1" dirty="0">
                <a:solidFill>
                  <a:srgbClr val="7F8C9A"/>
                </a:solidFill>
                <a:latin typeface="Trebuchet MS" pitchFamily="34" charset="0"/>
                <a:ea typeface="Trebuchet MS" pitchFamily="34" charset="-122"/>
                <a:cs typeface="Trebuchet MS" pitchFamily="34" charset="-120"/>
              </a:rPr>
              <a:t>Strongest single correlation in the dataset</a:t>
            </a:r>
            <a:endParaRPr lang="en-US" sz="1050" dirty="0"/>
          </a:p>
          <a:p>
            <a:pPr algn="ctr" indent="0" marL="0">
              <a:buNone/>
            </a:pPr>
            <a:r>
              <a:rPr lang="en-US" sz="1050" i="1" dirty="0">
                <a:solidFill>
                  <a:srgbClr val="7F8C9A"/>
                </a:solidFill>
                <a:latin typeface="Trebuchet MS" pitchFamily="34" charset="0"/>
                <a:ea typeface="Trebuchet MS" pitchFamily="34" charset="-122"/>
                <a:cs typeface="Trebuchet MS" pitchFamily="34" charset="-120"/>
              </a:rPr>
              <a:t>(all 8 pairs significant at p &lt; 0.0001)</a:t>
            </a:r>
            <a:endParaRPr lang="en-US" sz="1050" dirty="0"/>
          </a:p>
        </p:txBody>
      </p:sp>
      <p:sp>
        <p:nvSpPr>
          <p:cNvPr id="8" name="Shape 6"/>
          <p:cNvSpPr/>
          <p:nvPr/>
        </p:nvSpPr>
        <p:spPr>
          <a:xfrm>
            <a:off x="4480560" y="960120"/>
            <a:ext cx="4251960" cy="2194560"/>
          </a:xfrm>
          <a:prstGeom prst="rect">
            <a:avLst/>
          </a:prstGeom>
          <a:solidFill>
            <a:srgbClr val="0D1B2A"/>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26280" y="1005840"/>
          <a:ext cx="4160520" cy="2103120"/>
        </p:xfrm>
        <a:graphic>
          <a:graphicData uri="http://schemas.openxmlformats.org/drawingml/2006/table">
            <a:tbl>
              <a:tblPr/>
              <a:tblGrid>
                <a:gridCol w="1097280"/>
                <a:gridCol w="1005840"/>
                <a:gridCol w="1143000"/>
                <a:gridCol w="914400"/>
              </a:tblGrid>
              <a:tr h="420624">
                <a:tc>
                  <a:txBody>
                    <a:bodyPr/>
                    <a:lstStyle/>
                    <a:p>
                      <a:pPr indent="0" marL="0">
                        <a:buNone/>
                      </a:pPr>
                      <a:r>
                        <a:rPr lang="en-US" sz="1000" b="1" dirty="0">
                          <a:solidFill>
                            <a:srgbClr val="26A69A"/>
                          </a:solidFill>
                          <a:latin typeface="Trebuchet MS" pitchFamily="34" charset="0"/>
                          <a:ea typeface="Trebuchet MS" pitchFamily="34" charset="-122"/>
                          <a:cs typeface="Trebuchet MS" pitchFamily="34" charset="-120"/>
                        </a:rPr>
                        <a:t>Channel</a:t>
                      </a:r>
                      <a:endParaRPr lang="en-US" sz="10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c>
                  <a:txBody>
                    <a:bodyPr/>
                    <a:lstStyle/>
                    <a:p>
                      <a:pPr indent="0" marL="0">
                        <a:buNone/>
                      </a:pPr>
                      <a:r>
                        <a:rPr lang="en-US" sz="1000" b="1" dirty="0">
                          <a:solidFill>
                            <a:srgbClr val="F4A700"/>
                          </a:solidFill>
                          <a:latin typeface="Trebuchet MS" pitchFamily="34" charset="0"/>
                          <a:ea typeface="Trebuchet MS" pitchFamily="34" charset="-122"/>
                          <a:cs typeface="Trebuchet MS" pitchFamily="34" charset="-120"/>
                        </a:rPr>
                        <a:t>Laps Led  r</a:t>
                      </a:r>
                      <a:endParaRPr lang="en-US" sz="10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c>
                  <a:txBody>
                    <a:bodyPr/>
                    <a:lstStyle/>
                    <a:p>
                      <a:pPr indent="0" marL="0">
                        <a:buNone/>
                      </a:pPr>
                      <a:r>
                        <a:rPr lang="en-US" sz="1000" b="1" dirty="0">
                          <a:solidFill>
                            <a:srgbClr val="BDD4E7"/>
                          </a:solidFill>
                          <a:latin typeface="Trebuchet MS" pitchFamily="34" charset="0"/>
                          <a:ea typeface="Trebuchet MS" pitchFamily="34" charset="-122"/>
                          <a:cs typeface="Trebuchet MS" pitchFamily="34" charset="-120"/>
                        </a:rPr>
                        <a:t>Finish Pos  r</a:t>
                      </a:r>
                      <a:endParaRPr lang="en-US" sz="10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c>
                  <a:txBody>
                    <a:bodyPr/>
                    <a:lstStyle/>
                    <a:p>
                      <a:pPr indent="0" marL="0">
                        <a:buNone/>
                      </a:pPr>
                      <a:r>
                        <a:rPr lang="en-US" sz="1000" b="1" dirty="0">
                          <a:solidFill>
                            <a:srgbClr val="26A69A"/>
                          </a:solidFill>
                          <a:latin typeface="Trebuchet MS" pitchFamily="34" charset="0"/>
                          <a:ea typeface="Trebuchet MS" pitchFamily="34" charset="-122"/>
                          <a:cs typeface="Trebuchet MS" pitchFamily="34" charset="-120"/>
                        </a:rPr>
                        <a:t>Advantage</a:t>
                      </a:r>
                      <a:endParaRPr lang="en-US" sz="10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r>
              <a:tr h="420624">
                <a:tc>
                  <a:txBody>
                    <a:bodyPr/>
                    <a:lstStyle/>
                    <a:p>
                      <a:pPr indent="0" marL="0">
                        <a:buNone/>
                      </a:pPr>
                      <a:r>
                        <a:rPr lang="en-US" sz="1300" dirty="0">
                          <a:solidFill>
                            <a:srgbClr val="FFFFFF"/>
                          </a:solidFill>
                          <a:latin typeface="Trebuchet MS" pitchFamily="34" charset="0"/>
                          <a:ea typeface="Trebuchet MS" pitchFamily="34" charset="-122"/>
                          <a:cs typeface="Trebuchet MS" pitchFamily="34" charset="-120"/>
                        </a:rPr>
                        <a:t>Reddit</a:t>
                      </a:r>
                      <a:endParaRPr lang="en-US" sz="13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c>
                  <a:txBody>
                    <a:bodyPr/>
                    <a:lstStyle/>
                    <a:p>
                      <a:pPr indent="0" marL="0">
                        <a:buNone/>
                      </a:pPr>
                      <a:r>
                        <a:rPr lang="en-US" sz="1300" b="1" dirty="0">
                          <a:solidFill>
                            <a:srgbClr val="F4A700"/>
                          </a:solidFill>
                          <a:latin typeface="Trebuchet MS" pitchFamily="34" charset="0"/>
                          <a:ea typeface="Trebuchet MS" pitchFamily="34" charset="-122"/>
                          <a:cs typeface="Trebuchet MS" pitchFamily="34" charset="-120"/>
                        </a:rPr>
                        <a:t>+0.871</a:t>
                      </a:r>
                      <a:endParaRPr lang="en-US" sz="13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c>
                  <a:txBody>
                    <a:bodyPr/>
                    <a:lstStyle/>
                    <a:p>
                      <a:pPr indent="0" marL="0">
                        <a:buNone/>
                      </a:pPr>
                      <a:r>
                        <a:rPr lang="en-US" sz="1300" b="1" dirty="0">
                          <a:solidFill>
                            <a:srgbClr val="BDD4E7"/>
                          </a:solidFill>
                          <a:latin typeface="Trebuchet MS" pitchFamily="34" charset="0"/>
                          <a:ea typeface="Trebuchet MS" pitchFamily="34" charset="-122"/>
                          <a:cs typeface="Trebuchet MS" pitchFamily="34" charset="-120"/>
                        </a:rPr>
                        <a:t>−0.579</a:t>
                      </a:r>
                      <a:endParaRPr lang="en-US" sz="13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c>
                  <a:txBody>
                    <a:bodyPr/>
                    <a:lstStyle/>
                    <a:p>
                      <a:pPr indent="0" marL="0">
                        <a:buNone/>
                      </a:pPr>
                      <a:r>
                        <a:rPr lang="en-US" sz="1300" b="1" dirty="0">
                          <a:solidFill>
                            <a:srgbClr val="26A69A"/>
                          </a:solidFill>
                          <a:latin typeface="Trebuchet MS" pitchFamily="34" charset="0"/>
                          <a:ea typeface="Trebuchet MS" pitchFamily="34" charset="-122"/>
                          <a:cs typeface="Trebuchet MS" pitchFamily="34" charset="-120"/>
                        </a:rPr>
                        <a:t>+0.29</a:t>
                      </a:r>
                      <a:endParaRPr lang="en-US" sz="13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r>
              <a:tr h="420624">
                <a:tc>
                  <a:txBody>
                    <a:bodyPr/>
                    <a:lstStyle/>
                    <a:p>
                      <a:pPr indent="0" marL="0">
                        <a:buNone/>
                      </a:pPr>
                      <a:r>
                        <a:rPr lang="en-US" sz="1300" dirty="0">
                          <a:solidFill>
                            <a:srgbClr val="FFFFFF"/>
                          </a:solidFill>
                          <a:latin typeface="Trebuchet MS" pitchFamily="34" charset="0"/>
                          <a:ea typeface="Trebuchet MS" pitchFamily="34" charset="-122"/>
                          <a:cs typeface="Trebuchet MS" pitchFamily="34" charset="-120"/>
                        </a:rPr>
                        <a:t>News</a:t>
                      </a:r>
                      <a:endParaRPr lang="en-US" sz="13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c>
                  <a:txBody>
                    <a:bodyPr/>
                    <a:lstStyle/>
                    <a:p>
                      <a:pPr indent="0" marL="0">
                        <a:buNone/>
                      </a:pPr>
                      <a:r>
                        <a:rPr lang="en-US" sz="1300" b="1" dirty="0">
                          <a:solidFill>
                            <a:srgbClr val="F4A700"/>
                          </a:solidFill>
                          <a:latin typeface="Trebuchet MS" pitchFamily="34" charset="0"/>
                          <a:ea typeface="Trebuchet MS" pitchFamily="34" charset="-122"/>
                          <a:cs typeface="Trebuchet MS" pitchFamily="34" charset="-120"/>
                        </a:rPr>
                        <a:t>+0.864</a:t>
                      </a:r>
                      <a:endParaRPr lang="en-US" sz="13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c>
                  <a:txBody>
                    <a:bodyPr/>
                    <a:lstStyle/>
                    <a:p>
                      <a:pPr indent="0" marL="0">
                        <a:buNone/>
                      </a:pPr>
                      <a:r>
                        <a:rPr lang="en-US" sz="1300" b="1" dirty="0">
                          <a:solidFill>
                            <a:srgbClr val="BDD4E7"/>
                          </a:solidFill>
                          <a:latin typeface="Trebuchet MS" pitchFamily="34" charset="0"/>
                          <a:ea typeface="Trebuchet MS" pitchFamily="34" charset="-122"/>
                          <a:cs typeface="Trebuchet MS" pitchFamily="34" charset="-120"/>
                        </a:rPr>
                        <a:t>−0.585</a:t>
                      </a:r>
                      <a:endParaRPr lang="en-US" sz="13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c>
                  <a:txBody>
                    <a:bodyPr/>
                    <a:lstStyle/>
                    <a:p>
                      <a:pPr indent="0" marL="0">
                        <a:buNone/>
                      </a:pPr>
                      <a:r>
                        <a:rPr lang="en-US" sz="1300" b="1" dirty="0">
                          <a:solidFill>
                            <a:srgbClr val="26A69A"/>
                          </a:solidFill>
                          <a:latin typeface="Trebuchet MS" pitchFamily="34" charset="0"/>
                          <a:ea typeface="Trebuchet MS" pitchFamily="34" charset="-122"/>
                          <a:cs typeface="Trebuchet MS" pitchFamily="34" charset="-120"/>
                        </a:rPr>
                        <a:t>+0.28</a:t>
                      </a:r>
                      <a:endParaRPr lang="en-US" sz="13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r>
              <a:tr h="420624">
                <a:tc>
                  <a:txBody>
                    <a:bodyPr/>
                    <a:lstStyle/>
                    <a:p>
                      <a:pPr indent="0" marL="0">
                        <a:buNone/>
                      </a:pPr>
                      <a:r>
                        <a:rPr lang="en-US" sz="1300" dirty="0">
                          <a:solidFill>
                            <a:srgbClr val="FFFFFF"/>
                          </a:solidFill>
                          <a:latin typeface="Trebuchet MS" pitchFamily="34" charset="0"/>
                          <a:ea typeface="Trebuchet MS" pitchFamily="34" charset="-122"/>
                          <a:cs typeface="Trebuchet MS" pitchFamily="34" charset="-120"/>
                        </a:rPr>
                        <a:t>YouTube</a:t>
                      </a:r>
                      <a:endParaRPr lang="en-US" sz="13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c>
                  <a:txBody>
                    <a:bodyPr/>
                    <a:lstStyle/>
                    <a:p>
                      <a:pPr indent="0" marL="0">
                        <a:buNone/>
                      </a:pPr>
                      <a:r>
                        <a:rPr lang="en-US" sz="1300" b="1" dirty="0">
                          <a:solidFill>
                            <a:srgbClr val="F4A700"/>
                          </a:solidFill>
                          <a:latin typeface="Trebuchet MS" pitchFamily="34" charset="0"/>
                          <a:ea typeface="Trebuchet MS" pitchFamily="34" charset="-122"/>
                          <a:cs typeface="Trebuchet MS" pitchFamily="34" charset="-120"/>
                        </a:rPr>
                        <a:t>+0.854</a:t>
                      </a:r>
                      <a:endParaRPr lang="en-US" sz="13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c>
                  <a:txBody>
                    <a:bodyPr/>
                    <a:lstStyle/>
                    <a:p>
                      <a:pPr indent="0" marL="0">
                        <a:buNone/>
                      </a:pPr>
                      <a:r>
                        <a:rPr lang="en-US" sz="1300" b="1" dirty="0">
                          <a:solidFill>
                            <a:srgbClr val="BDD4E7"/>
                          </a:solidFill>
                          <a:latin typeface="Trebuchet MS" pitchFamily="34" charset="0"/>
                          <a:ea typeface="Trebuchet MS" pitchFamily="34" charset="-122"/>
                          <a:cs typeface="Trebuchet MS" pitchFamily="34" charset="-120"/>
                        </a:rPr>
                        <a:t>−0.615</a:t>
                      </a:r>
                      <a:endParaRPr lang="en-US" sz="13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c>
                  <a:txBody>
                    <a:bodyPr/>
                    <a:lstStyle/>
                    <a:p>
                      <a:pPr indent="0" marL="0">
                        <a:buNone/>
                      </a:pPr>
                      <a:r>
                        <a:rPr lang="en-US" sz="1300" b="1" dirty="0">
                          <a:solidFill>
                            <a:srgbClr val="26A69A"/>
                          </a:solidFill>
                          <a:latin typeface="Trebuchet MS" pitchFamily="34" charset="0"/>
                          <a:ea typeface="Trebuchet MS" pitchFamily="34" charset="-122"/>
                          <a:cs typeface="Trebuchet MS" pitchFamily="34" charset="-120"/>
                        </a:rPr>
                        <a:t>+0.24</a:t>
                      </a:r>
                      <a:endParaRPr lang="en-US" sz="1300" dirty="0">
                        <a:latin typeface="Trebuchet MS" charset="0"/>
                        <a:ea typeface="Trebuchet MS" charset="0"/>
                        <a:cs typeface="Trebuchet MS" charset="0"/>
                      </a:endParaRPr>
                    </a:p>
                  </a:txBody>
                  <a:tcPr marL="91440" marR="91440" marT="45720" marB="45720">
                    <a:lnL w="6350" cap="flat" cmpd="sng" algn="ctr">
                      <a:solidFill>
                        <a:srgbClr val="2E4A6A"/>
                      </a:solidFill>
                      <a:prstDash val="solid"/>
                      <a:round/>
                      <a:headEnd type="none" w="med" len="med"/>
                      <a:tailEnd type="none" w="med" len="med"/>
                    </a:lnL>
                    <a:lnR w="6350" cap="flat" cmpd="sng" algn="ctr">
                      <a:solidFill>
                        <a:srgbClr val="2E4A6A"/>
                      </a:solidFill>
                      <a:prstDash val="solid"/>
                      <a:round/>
                      <a:headEnd type="none" w="med" len="med"/>
                      <a:tailEnd type="none" w="med" len="med"/>
                    </a:lnR>
                    <a:lnT w="6350" cap="flat" cmpd="sng" algn="ctr">
                      <a:solidFill>
                        <a:srgbClr val="2E4A6A"/>
                      </a:solidFill>
                      <a:prstDash val="solid"/>
                      <a:round/>
                      <a:headEnd type="none" w="med" len="med"/>
                      <a:tailEnd type="none" w="med" len="med"/>
                    </a:lnT>
                    <a:lnB w="6350" cap="flat" cmpd="sng" algn="ctr">
                      <a:solidFill>
                        <a:srgbClr val="2E4A6A"/>
                      </a:solidFill>
                      <a:prstDash val="solid"/>
                      <a:round/>
                      <a:headEnd type="none" w="med" len="med"/>
                      <a:tailEnd type="none" w="med" len="med"/>
                    </a:lnB>
                  </a:tcPr>
                </a:tc>
              </a:tr>
            </a:tbl>
          </a:graphicData>
        </a:graphic>
      </p:graphicFrame>
      <p:sp>
        <p:nvSpPr>
          <p:cNvPr id="10" name="Shape 7"/>
          <p:cNvSpPr/>
          <p:nvPr/>
        </p:nvSpPr>
        <p:spPr>
          <a:xfrm>
            <a:off x="4480560" y="3246120"/>
            <a:ext cx="4251960" cy="502920"/>
          </a:xfrm>
          <a:prstGeom prst="roundRect">
            <a:avLst>
              <a:gd name="adj" fmla="val 14545"/>
            </a:avLst>
          </a:prstGeom>
          <a:solidFill>
            <a:srgbClr val="F4A700">
              <a:alpha val="85000"/>
            </a:srgbClr>
          </a:solidFill>
          <a:ln/>
        </p:spPr>
      </p:sp>
      <p:sp>
        <p:nvSpPr>
          <p:cNvPr id="11" name="Text 8"/>
          <p:cNvSpPr/>
          <p:nvPr/>
        </p:nvSpPr>
        <p:spPr>
          <a:xfrm>
            <a:off x="4480560" y="3246120"/>
            <a:ext cx="4251960" cy="502920"/>
          </a:xfrm>
          <a:prstGeom prst="rect">
            <a:avLst/>
          </a:prstGeom>
          <a:noFill/>
          <a:ln/>
        </p:spPr>
        <p:txBody>
          <a:bodyPr wrap="square" rtlCol="0" anchor="ctr"/>
          <a:lstStyle/>
          <a:p>
            <a:pPr algn="ctr" indent="0" marL="0">
              <a:buNone/>
            </a:pPr>
            <a:r>
              <a:rPr lang="en-US" sz="1100" b="1" dirty="0">
                <a:solidFill>
                  <a:srgbClr val="1B3A5C"/>
                </a:solidFill>
                <a:latin typeface="Trebuchet MS" pitchFamily="34" charset="0"/>
                <a:ea typeface="Trebuchet MS" pitchFamily="34" charset="-122"/>
                <a:cs typeface="Trebuchet MS" pitchFamily="34" charset="-120"/>
              </a:rPr>
              <a:t>0.27 pts higher on average — every channel, every time</a:t>
            </a:r>
            <a:endParaRPr lang="en-US" sz="1100" dirty="0"/>
          </a:p>
        </p:txBody>
      </p:sp>
      <p:sp>
        <p:nvSpPr>
          <p:cNvPr id="12" name="Shape 9"/>
          <p:cNvSpPr/>
          <p:nvPr/>
        </p:nvSpPr>
        <p:spPr>
          <a:xfrm>
            <a:off x="0" y="4370832"/>
            <a:ext cx="9144000" cy="772668"/>
          </a:xfrm>
          <a:prstGeom prst="rect">
            <a:avLst/>
          </a:prstGeom>
          <a:solidFill>
            <a:srgbClr val="0D1B2A"/>
          </a:solidFill>
          <a:ln/>
        </p:spPr>
      </p:sp>
      <p:sp>
        <p:nvSpPr>
          <p:cNvPr id="13" name="Text 10"/>
          <p:cNvSpPr/>
          <p:nvPr/>
        </p:nvSpPr>
        <p:spPr>
          <a:xfrm>
            <a:off x="411480" y="4407408"/>
            <a:ext cx="8321040" cy="530352"/>
          </a:xfrm>
          <a:prstGeom prst="rect">
            <a:avLst/>
          </a:prstGeom>
          <a:noFill/>
          <a:ln/>
        </p:spPr>
        <p:txBody>
          <a:bodyPr wrap="square" rtlCol="0" anchor="ctr"/>
          <a:lstStyle/>
          <a:p>
            <a:pPr indent="0" marL="0">
              <a:buNone/>
            </a:pPr>
            <a:r>
              <a:rPr lang="en-US" sz="1050" i="1" dirty="0">
                <a:solidFill>
                  <a:srgbClr val="7F8C9A"/>
                </a:solidFill>
                <a:latin typeface="Trebuchet MS" pitchFamily="34" charset="0"/>
                <a:ea typeface="Trebuchet MS" pitchFamily="34" charset="-122"/>
                <a:cs typeface="Trebuchet MS" pitchFamily="34" charset="-120"/>
              </a:rPr>
              <a:t>So what?  Weight laps led more than finish position in every sponsorship conversation. The car at the front for 300 laps is worth more than the car that wins in the final corner.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164592"/>
            <a:ext cx="8321040" cy="658368"/>
          </a:xfrm>
          <a:prstGeom prst="rect">
            <a:avLst/>
          </a:prstGeom>
          <a:noFill/>
          <a:ln/>
        </p:spPr>
        <p:txBody>
          <a:bodyPr wrap="square" rtlCol="0" anchor="ctr"/>
          <a:lstStyle/>
          <a:p>
            <a:pPr indent="0" marL="0">
              <a:buNone/>
            </a:pPr>
            <a:r>
              <a:rPr lang="en-US" sz="1600" b="1" dirty="0">
                <a:solidFill>
                  <a:srgbClr val="1B3A5C"/>
                </a:solidFill>
                <a:latin typeface="Arial" pitchFamily="34" charset="0"/>
                <a:ea typeface="Arial" pitchFamily="34" charset="-122"/>
                <a:cs typeface="Arial" pitchFamily="34" charset="-120"/>
              </a:rPr>
              <a:t>Race Wins Don't Just Help — They Multiply Visibility by ~9×, Creating Non-Linear Spikes No Average Finish Can Match</a:t>
            </a:r>
            <a:endParaRPr lang="en-US" sz="1600" dirty="0"/>
          </a:p>
        </p:txBody>
      </p:sp>
      <p:sp>
        <p:nvSpPr>
          <p:cNvPr id="3" name="Shape 1"/>
          <p:cNvSpPr/>
          <p:nvPr/>
        </p:nvSpPr>
        <p:spPr>
          <a:xfrm>
            <a:off x="411480" y="832104"/>
            <a:ext cx="8321040" cy="22860"/>
          </a:xfrm>
          <a:prstGeom prst="rect">
            <a:avLst/>
          </a:prstGeom>
          <a:solidFill>
            <a:srgbClr val="26A69A"/>
          </a:solidFill>
          <a:ln/>
        </p:spPr>
      </p:sp>
      <p:sp>
        <p:nvSpPr>
          <p:cNvPr id="4" name="Text 2"/>
          <p:cNvSpPr/>
          <p:nvPr/>
        </p:nvSpPr>
        <p:spPr>
          <a:xfrm>
            <a:off x="411480" y="960120"/>
            <a:ext cx="3200400" cy="1463040"/>
          </a:xfrm>
          <a:prstGeom prst="rect">
            <a:avLst/>
          </a:prstGeom>
          <a:noFill/>
          <a:ln/>
        </p:spPr>
        <p:txBody>
          <a:bodyPr wrap="square" rtlCol="0" anchor="ctr"/>
          <a:lstStyle/>
          <a:p>
            <a:pPr algn="ctr" indent="0" marL="0">
              <a:buNone/>
            </a:pPr>
            <a:r>
              <a:rPr lang="en-US" sz="9600" b="1" dirty="0">
                <a:solidFill>
                  <a:srgbClr val="F4A700"/>
                </a:solidFill>
                <a:latin typeface="Arial Black" pitchFamily="34" charset="0"/>
                <a:ea typeface="Arial Black" pitchFamily="34" charset="-122"/>
                <a:cs typeface="Arial Black" pitchFamily="34" charset="-120"/>
              </a:rPr>
              <a:t>~9×</a:t>
            </a:r>
            <a:endParaRPr lang="en-US" sz="9600" dirty="0"/>
          </a:p>
        </p:txBody>
      </p:sp>
      <p:sp>
        <p:nvSpPr>
          <p:cNvPr id="5" name="Text 3"/>
          <p:cNvSpPr/>
          <p:nvPr/>
        </p:nvSpPr>
        <p:spPr>
          <a:xfrm>
            <a:off x="411480" y="2395728"/>
            <a:ext cx="3200400" cy="640080"/>
          </a:xfrm>
          <a:prstGeom prst="rect">
            <a:avLst/>
          </a:prstGeom>
          <a:noFill/>
          <a:ln/>
        </p:spPr>
        <p:txBody>
          <a:bodyPr wrap="square" rtlCol="0" anchor="ctr"/>
          <a:lstStyle/>
          <a:p>
            <a:pPr algn="ctr" indent="0" marL="0">
              <a:buNone/>
            </a:pPr>
            <a:r>
              <a:rPr lang="en-US" sz="1200" i="1" dirty="0">
                <a:solidFill>
                  <a:srgbClr val="7F8C9A"/>
                </a:solidFill>
                <a:latin typeface="Trebuchet MS" pitchFamily="34" charset="0"/>
                <a:ea typeface="Trebuchet MS" pitchFamily="34" charset="-122"/>
                <a:cs typeface="Trebuchet MS" pitchFamily="34" charset="-120"/>
              </a:rPr>
              <a:t>visibility multiplier on a win</a:t>
            </a:r>
            <a:endParaRPr lang="en-US" sz="1200" dirty="0"/>
          </a:p>
          <a:p>
            <a:pPr algn="ctr" indent="0" marL="0">
              <a:buNone/>
            </a:pPr>
            <a:r>
              <a:rPr lang="en-US" sz="1200" i="1" dirty="0">
                <a:solidFill>
                  <a:srgbClr val="7F8C9A"/>
                </a:solidFill>
                <a:latin typeface="Trebuchet MS" pitchFamily="34" charset="0"/>
                <a:ea typeface="Trebuchet MS" pitchFamily="34" charset="-122"/>
                <a:cs typeface="Trebuchet MS" pitchFamily="34" charset="-120"/>
              </a:rPr>
              <a:t>vs. a standard top-10 finish</a:t>
            </a:r>
            <a:endParaRPr lang="en-US" sz="1200" dirty="0"/>
          </a:p>
        </p:txBody>
      </p:sp>
      <p:graphicFrame>
        <p:nvGraphicFramePr>
          <p:cNvPr id="6" name="Chart 0" descr=""/>
          <p:cNvGraphicFramePr/>
          <p:nvPr/>
        </p:nvGraphicFramePr>
        <p:xfrm>
          <a:off x="3657600" y="914400"/>
          <a:ext cx="5029200" cy="2331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11480" y="3493008"/>
            <a:ext cx="1600200" cy="548640"/>
          </a:xfrm>
          <a:prstGeom prst="roundRect">
            <a:avLst>
              <a:gd name="adj" fmla="val 13333"/>
            </a:avLst>
          </a:prstGeom>
          <a:solidFill>
            <a:srgbClr val="1B3A5C"/>
          </a:solidFill>
          <a:ln/>
          <a:effectLst>
            <a:outerShdw sx="100000" sy="100000" kx="0" ky="0" algn="bl" rotWithShape="0" blurRad="101600" dist="38100" dir="8100000">
              <a:srgbClr val="000000">
                <a:alpha val="12000"/>
              </a:srgbClr>
            </a:outerShdw>
          </a:effectLst>
        </p:spPr>
      </p:sp>
      <p:sp>
        <p:nvSpPr>
          <p:cNvPr id="8" name="Text 5"/>
          <p:cNvSpPr/>
          <p:nvPr/>
        </p:nvSpPr>
        <p:spPr>
          <a:xfrm>
            <a:off x="411480" y="3493008"/>
            <a:ext cx="1600200" cy="548640"/>
          </a:xfrm>
          <a:prstGeom prst="rect">
            <a:avLst/>
          </a:prstGeom>
          <a:noFill/>
          <a:ln/>
        </p:spPr>
        <p:txBody>
          <a:bodyPr wrap="square"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NAPA
</a:t>
            </a:r>
            <a:pPr algn="ctr" indent="0" marL="0">
              <a:buNone/>
            </a:pPr>
            <a:r>
              <a:rPr lang="en-US" sz="1100" b="1" dirty="0">
                <a:solidFill>
                  <a:srgbClr val="F4A700"/>
                </a:solidFill>
                <a:latin typeface="Trebuchet MS" pitchFamily="34" charset="0"/>
                <a:ea typeface="Trebuchet MS" pitchFamily="34" charset="-122"/>
                <a:cs typeface="Trebuchet MS" pitchFamily="34" charset="-120"/>
              </a:rPr>
              <a:t>4 wins</a:t>
            </a:r>
            <a:endParaRPr lang="en-US" sz="900" dirty="0"/>
          </a:p>
        </p:txBody>
      </p:sp>
      <p:sp>
        <p:nvSpPr>
          <p:cNvPr id="9" name="Shape 6"/>
          <p:cNvSpPr/>
          <p:nvPr/>
        </p:nvSpPr>
        <p:spPr>
          <a:xfrm>
            <a:off x="2103120" y="3493008"/>
            <a:ext cx="1600200" cy="548640"/>
          </a:xfrm>
          <a:prstGeom prst="roundRect">
            <a:avLst>
              <a:gd name="adj" fmla="val 13333"/>
            </a:avLst>
          </a:prstGeom>
          <a:solidFill>
            <a:srgbClr val="26A69A"/>
          </a:solidFill>
          <a:ln/>
          <a:effectLst>
            <a:outerShdw sx="100000" sy="100000" kx="0" ky="0" algn="bl" rotWithShape="0" blurRad="101600" dist="38100" dir="8100000">
              <a:srgbClr val="000000">
                <a:alpha val="12000"/>
              </a:srgbClr>
            </a:outerShdw>
          </a:effectLst>
        </p:spPr>
      </p:sp>
      <p:sp>
        <p:nvSpPr>
          <p:cNvPr id="10" name="Text 7"/>
          <p:cNvSpPr/>
          <p:nvPr/>
        </p:nvSpPr>
        <p:spPr>
          <a:xfrm>
            <a:off x="2103120" y="3493008"/>
            <a:ext cx="1600200" cy="548640"/>
          </a:xfrm>
          <a:prstGeom prst="rect">
            <a:avLst/>
          </a:prstGeom>
          <a:noFill/>
          <a:ln/>
        </p:spPr>
        <p:txBody>
          <a:bodyPr wrap="square"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Monster
</a:t>
            </a:r>
            <a:pPr algn="ctr" indent="0" marL="0">
              <a:buNone/>
            </a:pPr>
            <a:r>
              <a:rPr lang="en-US" sz="1100" b="1" dirty="0">
                <a:solidFill>
                  <a:srgbClr val="F4A700"/>
                </a:solidFill>
                <a:latin typeface="Trebuchet MS" pitchFamily="34" charset="0"/>
                <a:ea typeface="Trebuchet MS" pitchFamily="34" charset="-122"/>
                <a:cs typeface="Trebuchet MS" pitchFamily="34" charset="-120"/>
              </a:rPr>
              <a:t>4 wins</a:t>
            </a:r>
            <a:endParaRPr lang="en-US" sz="900" dirty="0"/>
          </a:p>
        </p:txBody>
      </p:sp>
      <p:sp>
        <p:nvSpPr>
          <p:cNvPr id="11" name="Shape 8"/>
          <p:cNvSpPr/>
          <p:nvPr/>
        </p:nvSpPr>
        <p:spPr>
          <a:xfrm>
            <a:off x="3794760" y="3493008"/>
            <a:ext cx="1600200" cy="548640"/>
          </a:xfrm>
          <a:prstGeom prst="roundRect">
            <a:avLst>
              <a:gd name="adj" fmla="val 13333"/>
            </a:avLst>
          </a:prstGeom>
          <a:solidFill>
            <a:srgbClr val="2E6EA6"/>
          </a:solidFill>
          <a:ln/>
          <a:effectLst>
            <a:outerShdw sx="100000" sy="100000" kx="0" ky="0" algn="bl" rotWithShape="0" blurRad="101600" dist="38100" dir="8100000">
              <a:srgbClr val="000000">
                <a:alpha val="12000"/>
              </a:srgbClr>
            </a:outerShdw>
          </a:effectLst>
        </p:spPr>
      </p:sp>
      <p:sp>
        <p:nvSpPr>
          <p:cNvPr id="12" name="Text 9"/>
          <p:cNvSpPr/>
          <p:nvPr/>
        </p:nvSpPr>
        <p:spPr>
          <a:xfrm>
            <a:off x="3794760" y="3493008"/>
            <a:ext cx="1600200" cy="548640"/>
          </a:xfrm>
          <a:prstGeom prst="rect">
            <a:avLst/>
          </a:prstGeom>
          <a:noFill/>
          <a:ln/>
        </p:spPr>
        <p:txBody>
          <a:bodyPr wrap="square"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Fastenal
</a:t>
            </a:r>
            <a:pPr algn="ctr" indent="0" marL="0">
              <a:buNone/>
            </a:pPr>
            <a:r>
              <a:rPr lang="en-US" sz="1100" b="1" dirty="0">
                <a:solidFill>
                  <a:srgbClr val="F4A700"/>
                </a:solidFill>
                <a:latin typeface="Trebuchet MS" pitchFamily="34" charset="0"/>
                <a:ea typeface="Trebuchet MS" pitchFamily="34" charset="-122"/>
                <a:cs typeface="Trebuchet MS" pitchFamily="34" charset="-120"/>
              </a:rPr>
              <a:t>1 win</a:t>
            </a:r>
            <a:endParaRPr lang="en-US" sz="900" dirty="0"/>
          </a:p>
        </p:txBody>
      </p:sp>
      <p:sp>
        <p:nvSpPr>
          <p:cNvPr id="13" name="Shape 10"/>
          <p:cNvSpPr/>
          <p:nvPr/>
        </p:nvSpPr>
        <p:spPr>
          <a:xfrm>
            <a:off x="5486400" y="3493008"/>
            <a:ext cx="1600200" cy="548640"/>
          </a:xfrm>
          <a:prstGeom prst="roundRect">
            <a:avLst>
              <a:gd name="adj" fmla="val 13333"/>
            </a:avLst>
          </a:prstGeom>
          <a:solidFill>
            <a:srgbClr val="F0F0F0"/>
          </a:solidFill>
          <a:ln/>
        </p:spPr>
      </p:sp>
      <p:sp>
        <p:nvSpPr>
          <p:cNvPr id="14" name="Text 11"/>
          <p:cNvSpPr/>
          <p:nvPr/>
        </p:nvSpPr>
        <p:spPr>
          <a:xfrm>
            <a:off x="5486400" y="3493008"/>
            <a:ext cx="1600200" cy="548640"/>
          </a:xfrm>
          <a:prstGeom prst="rect">
            <a:avLst/>
          </a:prstGeom>
          <a:noFill/>
          <a:ln/>
        </p:spPr>
        <p:txBody>
          <a:bodyPr wrap="square" rtlCol="0" anchor="ctr"/>
          <a:lstStyle/>
          <a:p>
            <a:pPr algn="ctr" indent="0" marL="0">
              <a:buNone/>
            </a:pPr>
            <a:r>
              <a:rPr lang="en-US" sz="900" b="1" dirty="0">
                <a:solidFill>
                  <a:srgbClr val="7F8C9A"/>
                </a:solidFill>
                <a:latin typeface="Trebuchet MS" pitchFamily="34" charset="0"/>
                <a:ea typeface="Trebuchet MS" pitchFamily="34" charset="-122"/>
                <a:cs typeface="Trebuchet MS" pitchFamily="34" charset="-120"/>
              </a:rPr>
              <a:t>Love's
</a:t>
            </a:r>
            <a:pPr algn="ctr" indent="0" marL="0">
              <a:buNone/>
            </a:pPr>
            <a:r>
              <a:rPr lang="en-US" sz="1100" b="1" dirty="0">
                <a:solidFill>
                  <a:srgbClr val="7F8C9A"/>
                </a:solidFill>
                <a:latin typeface="Trebuchet MS" pitchFamily="34" charset="0"/>
                <a:ea typeface="Trebuchet MS" pitchFamily="34" charset="-122"/>
                <a:cs typeface="Trebuchet MS" pitchFamily="34" charset="-120"/>
              </a:rPr>
              <a:t>0 wins</a:t>
            </a:r>
            <a:endParaRPr lang="en-US" sz="900" dirty="0"/>
          </a:p>
        </p:txBody>
      </p:sp>
      <p:sp>
        <p:nvSpPr>
          <p:cNvPr id="15" name="Shape 12"/>
          <p:cNvSpPr/>
          <p:nvPr/>
        </p:nvSpPr>
        <p:spPr>
          <a:xfrm>
            <a:off x="7178040" y="3493008"/>
            <a:ext cx="1600200" cy="548640"/>
          </a:xfrm>
          <a:prstGeom prst="roundRect">
            <a:avLst>
              <a:gd name="adj" fmla="val 13333"/>
            </a:avLst>
          </a:prstGeom>
          <a:solidFill>
            <a:srgbClr val="F0F0F0"/>
          </a:solidFill>
          <a:ln/>
        </p:spPr>
      </p:sp>
      <p:sp>
        <p:nvSpPr>
          <p:cNvPr id="16" name="Text 13"/>
          <p:cNvSpPr/>
          <p:nvPr/>
        </p:nvSpPr>
        <p:spPr>
          <a:xfrm>
            <a:off x="7178040" y="3493008"/>
            <a:ext cx="1600200" cy="548640"/>
          </a:xfrm>
          <a:prstGeom prst="rect">
            <a:avLst/>
          </a:prstGeom>
          <a:noFill/>
          <a:ln/>
        </p:spPr>
        <p:txBody>
          <a:bodyPr wrap="square" rtlCol="0" anchor="ctr"/>
          <a:lstStyle/>
          <a:p>
            <a:pPr algn="ctr" indent="0" marL="0">
              <a:buNone/>
            </a:pPr>
            <a:r>
              <a:rPr lang="en-US" sz="900" b="1" dirty="0">
                <a:solidFill>
                  <a:srgbClr val="7F8C9A"/>
                </a:solidFill>
                <a:latin typeface="Trebuchet MS" pitchFamily="34" charset="0"/>
                <a:ea typeface="Trebuchet MS" pitchFamily="34" charset="-122"/>
                <a:cs typeface="Trebuchet MS" pitchFamily="34" charset="-120"/>
              </a:rPr>
              <a:t>Dollar Tree
</a:t>
            </a:r>
            <a:pPr algn="ctr" indent="0" marL="0">
              <a:buNone/>
            </a:pPr>
            <a:r>
              <a:rPr lang="en-US" sz="1100" b="1" dirty="0">
                <a:solidFill>
                  <a:srgbClr val="7F8C9A"/>
                </a:solidFill>
                <a:latin typeface="Trebuchet MS" pitchFamily="34" charset="0"/>
                <a:ea typeface="Trebuchet MS" pitchFamily="34" charset="-122"/>
                <a:cs typeface="Trebuchet MS" pitchFamily="34" charset="-120"/>
              </a:rPr>
              <a:t>0 wins</a:t>
            </a:r>
            <a:endParaRPr lang="en-US" sz="900" dirty="0"/>
          </a:p>
        </p:txBody>
      </p:sp>
      <p:sp>
        <p:nvSpPr>
          <p:cNvPr id="17" name="Shape 14"/>
          <p:cNvSpPr/>
          <p:nvPr/>
        </p:nvSpPr>
        <p:spPr>
          <a:xfrm>
            <a:off x="0" y="4370832"/>
            <a:ext cx="9144000" cy="772668"/>
          </a:xfrm>
          <a:prstGeom prst="rect">
            <a:avLst/>
          </a:prstGeom>
          <a:solidFill>
            <a:srgbClr val="EFF4FA"/>
          </a:solidFill>
          <a:ln/>
        </p:spPr>
      </p:sp>
      <p:sp>
        <p:nvSpPr>
          <p:cNvPr id="18" name="Text 15"/>
          <p:cNvSpPr/>
          <p:nvPr/>
        </p:nvSpPr>
        <p:spPr>
          <a:xfrm>
            <a:off x="411480" y="4407408"/>
            <a:ext cx="8321040" cy="502920"/>
          </a:xfrm>
          <a:prstGeom prst="rect">
            <a:avLst/>
          </a:prstGeom>
          <a:noFill/>
          <a:ln/>
        </p:spPr>
        <p:txBody>
          <a:bodyPr wrap="square" rtlCol="0" anchor="ctr"/>
          <a:lstStyle/>
          <a:p>
            <a:pPr indent="0" marL="0">
              <a:buNone/>
            </a:pPr>
            <a:r>
              <a:rPr lang="en-US" sz="1050" i="1" dirty="0">
                <a:solidFill>
                  <a:srgbClr val="1B3A5C"/>
                </a:solidFill>
                <a:latin typeface="Trebuchet MS" pitchFamily="34" charset="0"/>
                <a:ea typeface="Trebuchet MS" pitchFamily="34" charset="-122"/>
                <a:cs typeface="Trebuchet MS" pitchFamily="34" charset="-120"/>
              </a:rPr>
              <a:t>So what?  Sponsors on win-capable teams aren't buying 'slightly more' visibility — they're buying access to a multiplier that lower-tier deals simply cannot replicate.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rtlCol="0" anchor="ctr"/>
          <a:lstStyle/>
          <a:p>
            <a:pPr indent="0" marL="0">
              <a:buNone/>
            </a:pPr>
            <a:r>
              <a:rPr lang="en-US" sz="1600" b="1" dirty="0">
                <a:solidFill>
                  <a:srgbClr val="1B3A5C"/>
                </a:solidFill>
                <a:latin typeface="Arial" pitchFamily="34" charset="0"/>
                <a:ea typeface="Arial" pitchFamily="34" charset="-122"/>
                <a:cs typeface="Arial" pitchFamily="34" charset="-120"/>
              </a:rPr>
              <a:t>NAPA Leads Visibility — But Pays a 32% Efficiency Penalty That No Data Can Justify</a:t>
            </a:r>
            <a:endParaRPr lang="en-US" sz="1600" dirty="0"/>
          </a:p>
        </p:txBody>
      </p:sp>
      <p:sp>
        <p:nvSpPr>
          <p:cNvPr id="3" name="Shape 1"/>
          <p:cNvSpPr/>
          <p:nvPr/>
        </p:nvSpPr>
        <p:spPr>
          <a:xfrm>
            <a:off x="411480" y="731520"/>
            <a:ext cx="8321040" cy="22860"/>
          </a:xfrm>
          <a:prstGeom prst="rect">
            <a:avLst/>
          </a:prstGeom>
          <a:solidFill>
            <a:srgbClr val="26A69A"/>
          </a:solidFill>
          <a:ln/>
        </p:spPr>
      </p:sp>
      <p:graphicFrame>
        <p:nvGraphicFramePr>
          <p:cNvPr id="4" name="Chart 0" descr=""/>
          <p:cNvGraphicFramePr/>
          <p:nvPr/>
        </p:nvGraphicFramePr>
        <p:xfrm>
          <a:off x="411480" y="822960"/>
          <a:ext cx="502920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2103120" y="1371600"/>
            <a:ext cx="1828800" cy="594360"/>
          </a:xfrm>
          <a:prstGeom prst="rect">
            <a:avLst/>
          </a:prstGeom>
          <a:noFill/>
          <a:ln/>
        </p:spPr>
        <p:txBody>
          <a:bodyPr wrap="square" rtlCol="0" anchor="ctr"/>
          <a:lstStyle/>
          <a:p>
            <a:pPr algn="r" indent="0" marL="0">
              <a:buNone/>
            </a:pPr>
            <a:r>
              <a:rPr lang="en-US" sz="850" b="1" i="1" dirty="0">
                <a:solidFill>
                  <a:srgbClr val="26A69A"/>
                </a:solidFill>
                <a:latin typeface="Trebuchet MS" pitchFamily="34" charset="0"/>
                <a:ea typeface="Trebuchet MS" pitchFamily="34" charset="-122"/>
                <a:cs typeface="Trebuchet MS" pitchFamily="34" charset="-120"/>
              </a:rPr>
              <a:t>Nearly identical visibility</a:t>
            </a:r>
            <a:endParaRPr lang="en-US" sz="850" dirty="0"/>
          </a:p>
          <a:p>
            <a:pPr algn="r" indent="0" marL="0">
              <a:buNone/>
            </a:pPr>
            <a:r>
              <a:rPr lang="en-US" sz="850" b="1" i="1" dirty="0">
                <a:solidFill>
                  <a:srgbClr val="26A69A"/>
                </a:solidFill>
                <a:latin typeface="Trebuchet MS" pitchFamily="34" charset="0"/>
                <a:ea typeface="Trebuchet MS" pitchFamily="34" charset="-122"/>
                <a:cs typeface="Trebuchet MS" pitchFamily="34" charset="-120"/>
              </a:rPr>
              <a:t>$4.5M cheaper →</a:t>
            </a:r>
            <a:endParaRPr lang="en-US" sz="850" dirty="0"/>
          </a:p>
        </p:txBody>
      </p:sp>
      <p:sp>
        <p:nvSpPr>
          <p:cNvPr id="6" name="Text 3"/>
          <p:cNvSpPr/>
          <p:nvPr/>
        </p:nvSpPr>
        <p:spPr>
          <a:xfrm>
            <a:off x="5577840" y="868680"/>
            <a:ext cx="3154680" cy="320040"/>
          </a:xfrm>
          <a:prstGeom prst="rect">
            <a:avLst/>
          </a:prstGeom>
          <a:noFill/>
          <a:ln/>
        </p:spPr>
        <p:txBody>
          <a:bodyPr wrap="square" rtlCol="0" anchor="ctr"/>
          <a:lstStyle/>
          <a:p>
            <a:pPr algn="ctr" indent="0" marL="0">
              <a:buNone/>
            </a:pPr>
            <a:r>
              <a:rPr lang="en-US" sz="900" b="1" spc="200" kern="0" dirty="0">
                <a:solidFill>
                  <a:srgbClr val="7F8C9A"/>
                </a:solidFill>
                <a:latin typeface="Trebuchet MS" pitchFamily="34" charset="0"/>
                <a:ea typeface="Trebuchet MS" pitchFamily="34" charset="-122"/>
                <a:cs typeface="Trebuchet MS" pitchFamily="34" charset="-120"/>
              </a:rPr>
              <a:t>EFFICIENCY RANKINGS</a:t>
            </a:r>
            <a:endParaRPr lang="en-US" sz="900" dirty="0"/>
          </a:p>
        </p:txBody>
      </p:sp>
      <p:sp>
        <p:nvSpPr>
          <p:cNvPr id="7" name="Shape 4"/>
          <p:cNvSpPr/>
          <p:nvPr/>
        </p:nvSpPr>
        <p:spPr>
          <a:xfrm>
            <a:off x="5577840" y="1280160"/>
            <a:ext cx="3154680" cy="457200"/>
          </a:xfrm>
          <a:prstGeom prst="rect">
            <a:avLst/>
          </a:prstGeom>
          <a:solidFill>
            <a:srgbClr val="EFF4FA"/>
          </a:solidFill>
          <a:ln w="6350">
            <a:solidFill>
              <a:srgbClr val="BDD4E7"/>
            </a:solidFill>
            <a:prstDash val="solid"/>
          </a:ln>
        </p:spPr>
      </p:sp>
      <p:sp>
        <p:nvSpPr>
          <p:cNvPr id="8" name="Shape 5"/>
          <p:cNvSpPr/>
          <p:nvPr/>
        </p:nvSpPr>
        <p:spPr>
          <a:xfrm>
            <a:off x="5577840" y="1280160"/>
            <a:ext cx="54864" cy="457200"/>
          </a:xfrm>
          <a:prstGeom prst="rect">
            <a:avLst/>
          </a:prstGeom>
          <a:solidFill>
            <a:srgbClr val="1A6B35"/>
          </a:solidFill>
          <a:ln/>
        </p:spPr>
      </p:sp>
      <p:sp>
        <p:nvSpPr>
          <p:cNvPr id="9" name="Text 6"/>
          <p:cNvSpPr/>
          <p:nvPr/>
        </p:nvSpPr>
        <p:spPr>
          <a:xfrm>
            <a:off x="5650992" y="1280160"/>
            <a:ext cx="411480" cy="457200"/>
          </a:xfrm>
          <a:prstGeom prst="rect">
            <a:avLst/>
          </a:prstGeom>
          <a:noFill/>
          <a:ln/>
        </p:spPr>
        <p:txBody>
          <a:bodyPr wrap="square" rtlCol="0" anchor="ctr"/>
          <a:lstStyle/>
          <a:p>
            <a:pPr algn="ctr" indent="0" marL="0">
              <a:buNone/>
            </a:pPr>
            <a:r>
              <a:rPr lang="en-US" sz="1100" b="1" dirty="0">
                <a:solidFill>
                  <a:srgbClr val="1A6B35"/>
                </a:solidFill>
                <a:latin typeface="Arial Black" pitchFamily="34" charset="0"/>
                <a:ea typeface="Arial Black" pitchFamily="34" charset="-122"/>
                <a:cs typeface="Arial Black" pitchFamily="34" charset="-120"/>
              </a:rPr>
              <a:t>#1</a:t>
            </a:r>
            <a:endParaRPr lang="en-US" sz="1100" dirty="0"/>
          </a:p>
        </p:txBody>
      </p:sp>
      <p:sp>
        <p:nvSpPr>
          <p:cNvPr id="10" name="Text 7"/>
          <p:cNvSpPr/>
          <p:nvPr/>
        </p:nvSpPr>
        <p:spPr>
          <a:xfrm>
            <a:off x="6080760" y="1280160"/>
            <a:ext cx="1554480" cy="457200"/>
          </a:xfrm>
          <a:prstGeom prst="rect">
            <a:avLst/>
          </a:prstGeom>
          <a:noFill/>
          <a:ln/>
        </p:spPr>
        <p:txBody>
          <a:bodyPr wrap="square" rtlCol="0" anchor="ctr"/>
          <a:lstStyle/>
          <a:p>
            <a:pPr indent="0" marL="0">
              <a:buNone/>
            </a:pPr>
            <a:r>
              <a:rPr lang="en-US" sz="1000" dirty="0">
                <a:solidFill>
                  <a:srgbClr val="1A1A2E"/>
                </a:solidFill>
                <a:latin typeface="Trebuchet MS" pitchFamily="34" charset="0"/>
                <a:ea typeface="Trebuchet MS" pitchFamily="34" charset="-122"/>
                <a:cs typeface="Trebuchet MS" pitchFamily="34" charset="-120"/>
              </a:rPr>
              <a:t>Love's Travel Stops</a:t>
            </a:r>
            <a:endParaRPr lang="en-US" sz="1000" dirty="0"/>
          </a:p>
        </p:txBody>
      </p:sp>
      <p:sp>
        <p:nvSpPr>
          <p:cNvPr id="11" name="Text 8"/>
          <p:cNvSpPr/>
          <p:nvPr/>
        </p:nvSpPr>
        <p:spPr>
          <a:xfrm>
            <a:off x="7653528" y="1280160"/>
            <a:ext cx="1078992" cy="457200"/>
          </a:xfrm>
          <a:prstGeom prst="rect">
            <a:avLst/>
          </a:prstGeom>
          <a:noFill/>
          <a:ln/>
        </p:spPr>
        <p:txBody>
          <a:bodyPr wrap="square" rtlCol="0" anchor="ctr"/>
          <a:lstStyle/>
          <a:p>
            <a:pPr algn="r" indent="0" marL="0">
              <a:buNone/>
            </a:pPr>
            <a:r>
              <a:rPr lang="en-US" sz="1050" b="1" dirty="0">
                <a:solidFill>
                  <a:srgbClr val="1A6B35"/>
                </a:solidFill>
                <a:latin typeface="Trebuchet MS" pitchFamily="34" charset="0"/>
                <a:ea typeface="Trebuchet MS" pitchFamily="34" charset="-122"/>
                <a:cs typeface="Trebuchet MS" pitchFamily="34" charset="-120"/>
              </a:rPr>
              <a:t>82.0 pts/$M</a:t>
            </a:r>
            <a:endParaRPr lang="en-US" sz="1050" dirty="0"/>
          </a:p>
        </p:txBody>
      </p:sp>
      <p:sp>
        <p:nvSpPr>
          <p:cNvPr id="12" name="Shape 9"/>
          <p:cNvSpPr/>
          <p:nvPr/>
        </p:nvSpPr>
        <p:spPr>
          <a:xfrm>
            <a:off x="5577840" y="1810512"/>
            <a:ext cx="3154680" cy="457200"/>
          </a:xfrm>
          <a:prstGeom prst="rect">
            <a:avLst/>
          </a:prstGeom>
          <a:solidFill>
            <a:srgbClr val="EFF4FA"/>
          </a:solidFill>
          <a:ln w="6350">
            <a:solidFill>
              <a:srgbClr val="BDD4E7"/>
            </a:solidFill>
            <a:prstDash val="solid"/>
          </a:ln>
        </p:spPr>
      </p:sp>
      <p:sp>
        <p:nvSpPr>
          <p:cNvPr id="13" name="Shape 10"/>
          <p:cNvSpPr/>
          <p:nvPr/>
        </p:nvSpPr>
        <p:spPr>
          <a:xfrm>
            <a:off x="5577840" y="1810512"/>
            <a:ext cx="54864" cy="457200"/>
          </a:xfrm>
          <a:prstGeom prst="rect">
            <a:avLst/>
          </a:prstGeom>
          <a:solidFill>
            <a:srgbClr val="26A69A"/>
          </a:solidFill>
          <a:ln/>
        </p:spPr>
      </p:sp>
      <p:sp>
        <p:nvSpPr>
          <p:cNvPr id="14" name="Text 11"/>
          <p:cNvSpPr/>
          <p:nvPr/>
        </p:nvSpPr>
        <p:spPr>
          <a:xfrm>
            <a:off x="5650992" y="1810512"/>
            <a:ext cx="411480" cy="457200"/>
          </a:xfrm>
          <a:prstGeom prst="rect">
            <a:avLst/>
          </a:prstGeom>
          <a:noFill/>
          <a:ln/>
        </p:spPr>
        <p:txBody>
          <a:bodyPr wrap="square" rtlCol="0" anchor="ctr"/>
          <a:lstStyle/>
          <a:p>
            <a:pPr algn="ctr" indent="0" marL="0">
              <a:buNone/>
            </a:pPr>
            <a:r>
              <a:rPr lang="en-US" sz="1100" b="1" dirty="0">
                <a:solidFill>
                  <a:srgbClr val="26A69A"/>
                </a:solidFill>
                <a:latin typeface="Arial Black" pitchFamily="34" charset="0"/>
                <a:ea typeface="Arial Black" pitchFamily="34" charset="-122"/>
                <a:cs typeface="Arial Black" pitchFamily="34" charset="-120"/>
              </a:rPr>
              <a:t>#2</a:t>
            </a:r>
            <a:endParaRPr lang="en-US" sz="1100" dirty="0"/>
          </a:p>
        </p:txBody>
      </p:sp>
      <p:sp>
        <p:nvSpPr>
          <p:cNvPr id="15" name="Text 12"/>
          <p:cNvSpPr/>
          <p:nvPr/>
        </p:nvSpPr>
        <p:spPr>
          <a:xfrm>
            <a:off x="6080760" y="1810512"/>
            <a:ext cx="1554480" cy="457200"/>
          </a:xfrm>
          <a:prstGeom prst="rect">
            <a:avLst/>
          </a:prstGeom>
          <a:noFill/>
          <a:ln/>
        </p:spPr>
        <p:txBody>
          <a:bodyPr wrap="square" rtlCol="0" anchor="ctr"/>
          <a:lstStyle/>
          <a:p>
            <a:pPr indent="0" marL="0">
              <a:buNone/>
            </a:pPr>
            <a:r>
              <a:rPr lang="en-US" sz="1000" dirty="0">
                <a:solidFill>
                  <a:srgbClr val="1A1A2E"/>
                </a:solidFill>
                <a:latin typeface="Trebuchet MS" pitchFamily="34" charset="0"/>
                <a:ea typeface="Trebuchet MS" pitchFamily="34" charset="-122"/>
                <a:cs typeface="Trebuchet MS" pitchFamily="34" charset="-120"/>
              </a:rPr>
              <a:t>Fastenal</a:t>
            </a:r>
            <a:endParaRPr lang="en-US" sz="1000" dirty="0"/>
          </a:p>
        </p:txBody>
      </p:sp>
      <p:sp>
        <p:nvSpPr>
          <p:cNvPr id="16" name="Text 13"/>
          <p:cNvSpPr/>
          <p:nvPr/>
        </p:nvSpPr>
        <p:spPr>
          <a:xfrm>
            <a:off x="7653528" y="1810512"/>
            <a:ext cx="1078992" cy="457200"/>
          </a:xfrm>
          <a:prstGeom prst="rect">
            <a:avLst/>
          </a:prstGeom>
          <a:noFill/>
          <a:ln/>
        </p:spPr>
        <p:txBody>
          <a:bodyPr wrap="square" rtlCol="0" anchor="ctr"/>
          <a:lstStyle/>
          <a:p>
            <a:pPr algn="r" indent="0" marL="0">
              <a:buNone/>
            </a:pPr>
            <a:r>
              <a:rPr lang="en-US" sz="1050" b="1" dirty="0">
                <a:solidFill>
                  <a:srgbClr val="26A69A"/>
                </a:solidFill>
                <a:latin typeface="Trebuchet MS" pitchFamily="34" charset="0"/>
                <a:ea typeface="Trebuchet MS" pitchFamily="34" charset="-122"/>
                <a:cs typeface="Trebuchet MS" pitchFamily="34" charset="-120"/>
              </a:rPr>
              <a:t>77.5 pts/$M</a:t>
            </a:r>
            <a:endParaRPr lang="en-US" sz="1050" dirty="0"/>
          </a:p>
        </p:txBody>
      </p:sp>
      <p:sp>
        <p:nvSpPr>
          <p:cNvPr id="17" name="Shape 14"/>
          <p:cNvSpPr/>
          <p:nvPr/>
        </p:nvSpPr>
        <p:spPr>
          <a:xfrm>
            <a:off x="5577840" y="2340864"/>
            <a:ext cx="3154680" cy="457200"/>
          </a:xfrm>
          <a:prstGeom prst="rect">
            <a:avLst/>
          </a:prstGeom>
          <a:solidFill>
            <a:srgbClr val="EFF4FA"/>
          </a:solidFill>
          <a:ln w="6350">
            <a:solidFill>
              <a:srgbClr val="BDD4E7"/>
            </a:solidFill>
            <a:prstDash val="solid"/>
          </a:ln>
        </p:spPr>
      </p:sp>
      <p:sp>
        <p:nvSpPr>
          <p:cNvPr id="18" name="Shape 15"/>
          <p:cNvSpPr/>
          <p:nvPr/>
        </p:nvSpPr>
        <p:spPr>
          <a:xfrm>
            <a:off x="5577840" y="2340864"/>
            <a:ext cx="54864" cy="457200"/>
          </a:xfrm>
          <a:prstGeom prst="rect">
            <a:avLst/>
          </a:prstGeom>
          <a:solidFill>
            <a:srgbClr val="2E6EA6"/>
          </a:solidFill>
          <a:ln/>
        </p:spPr>
      </p:sp>
      <p:sp>
        <p:nvSpPr>
          <p:cNvPr id="19" name="Text 16"/>
          <p:cNvSpPr/>
          <p:nvPr/>
        </p:nvSpPr>
        <p:spPr>
          <a:xfrm>
            <a:off x="5650992" y="2340864"/>
            <a:ext cx="411480" cy="457200"/>
          </a:xfrm>
          <a:prstGeom prst="rect">
            <a:avLst/>
          </a:prstGeom>
          <a:noFill/>
          <a:ln/>
        </p:spPr>
        <p:txBody>
          <a:bodyPr wrap="square" rtlCol="0" anchor="ctr"/>
          <a:lstStyle/>
          <a:p>
            <a:pPr algn="ctr" indent="0" marL="0">
              <a:buNone/>
            </a:pPr>
            <a:r>
              <a:rPr lang="en-US" sz="1100" b="1" dirty="0">
                <a:solidFill>
                  <a:srgbClr val="2E6EA6"/>
                </a:solidFill>
                <a:latin typeface="Arial Black" pitchFamily="34" charset="0"/>
                <a:ea typeface="Arial Black" pitchFamily="34" charset="-122"/>
                <a:cs typeface="Arial Black" pitchFamily="34" charset="-120"/>
              </a:rPr>
              <a:t>#3</a:t>
            </a:r>
            <a:endParaRPr lang="en-US" sz="1100" dirty="0"/>
          </a:p>
        </p:txBody>
      </p:sp>
      <p:sp>
        <p:nvSpPr>
          <p:cNvPr id="20" name="Text 17"/>
          <p:cNvSpPr/>
          <p:nvPr/>
        </p:nvSpPr>
        <p:spPr>
          <a:xfrm>
            <a:off x="6080760" y="2340864"/>
            <a:ext cx="1554480" cy="457200"/>
          </a:xfrm>
          <a:prstGeom prst="rect">
            <a:avLst/>
          </a:prstGeom>
          <a:noFill/>
          <a:ln/>
        </p:spPr>
        <p:txBody>
          <a:bodyPr wrap="square" rtlCol="0" anchor="ctr"/>
          <a:lstStyle/>
          <a:p>
            <a:pPr indent="0" marL="0">
              <a:buNone/>
            </a:pPr>
            <a:r>
              <a:rPr lang="en-US" sz="1000" dirty="0">
                <a:solidFill>
                  <a:srgbClr val="1A1A2E"/>
                </a:solidFill>
                <a:latin typeface="Trebuchet MS" pitchFamily="34" charset="0"/>
                <a:ea typeface="Trebuchet MS" pitchFamily="34" charset="-122"/>
                <a:cs typeface="Trebuchet MS" pitchFamily="34" charset="-120"/>
              </a:rPr>
              <a:t>Monster Energy</a:t>
            </a:r>
            <a:endParaRPr lang="en-US" sz="1000" dirty="0"/>
          </a:p>
        </p:txBody>
      </p:sp>
      <p:sp>
        <p:nvSpPr>
          <p:cNvPr id="21" name="Text 18"/>
          <p:cNvSpPr/>
          <p:nvPr/>
        </p:nvSpPr>
        <p:spPr>
          <a:xfrm>
            <a:off x="7653528" y="2340864"/>
            <a:ext cx="1078992" cy="457200"/>
          </a:xfrm>
          <a:prstGeom prst="rect">
            <a:avLst/>
          </a:prstGeom>
          <a:noFill/>
          <a:ln/>
        </p:spPr>
        <p:txBody>
          <a:bodyPr wrap="square" rtlCol="0" anchor="ctr"/>
          <a:lstStyle/>
          <a:p>
            <a:pPr algn="r" indent="0" marL="0">
              <a:buNone/>
            </a:pPr>
            <a:r>
              <a:rPr lang="en-US" sz="1050" b="1" dirty="0">
                <a:solidFill>
                  <a:srgbClr val="2E6EA6"/>
                </a:solidFill>
                <a:latin typeface="Trebuchet MS" pitchFamily="34" charset="0"/>
                <a:ea typeface="Trebuchet MS" pitchFamily="34" charset="-122"/>
                <a:cs typeface="Trebuchet MS" pitchFamily="34" charset="-120"/>
              </a:rPr>
              <a:t>76.8 pts/$M</a:t>
            </a:r>
            <a:endParaRPr lang="en-US" sz="1050" dirty="0"/>
          </a:p>
        </p:txBody>
      </p:sp>
      <p:sp>
        <p:nvSpPr>
          <p:cNvPr id="22" name="Shape 19"/>
          <p:cNvSpPr/>
          <p:nvPr/>
        </p:nvSpPr>
        <p:spPr>
          <a:xfrm>
            <a:off x="5577840" y="2871216"/>
            <a:ext cx="3154680" cy="457200"/>
          </a:xfrm>
          <a:prstGeom prst="rect">
            <a:avLst/>
          </a:prstGeom>
          <a:solidFill>
            <a:srgbClr val="F8F8F8"/>
          </a:solidFill>
          <a:ln w="6350">
            <a:solidFill>
              <a:srgbClr val="E0E0E0"/>
            </a:solidFill>
            <a:prstDash val="solid"/>
          </a:ln>
        </p:spPr>
      </p:sp>
      <p:sp>
        <p:nvSpPr>
          <p:cNvPr id="23" name="Shape 20"/>
          <p:cNvSpPr/>
          <p:nvPr/>
        </p:nvSpPr>
        <p:spPr>
          <a:xfrm>
            <a:off x="5577840" y="2871216"/>
            <a:ext cx="54864" cy="457200"/>
          </a:xfrm>
          <a:prstGeom prst="rect">
            <a:avLst/>
          </a:prstGeom>
          <a:solidFill>
            <a:srgbClr val="7F8C9A"/>
          </a:solidFill>
          <a:ln/>
        </p:spPr>
      </p:sp>
      <p:sp>
        <p:nvSpPr>
          <p:cNvPr id="24" name="Text 21"/>
          <p:cNvSpPr/>
          <p:nvPr/>
        </p:nvSpPr>
        <p:spPr>
          <a:xfrm>
            <a:off x="5650992" y="2871216"/>
            <a:ext cx="411480" cy="457200"/>
          </a:xfrm>
          <a:prstGeom prst="rect">
            <a:avLst/>
          </a:prstGeom>
          <a:noFill/>
          <a:ln/>
        </p:spPr>
        <p:txBody>
          <a:bodyPr wrap="square" rtlCol="0" anchor="ctr"/>
          <a:lstStyle/>
          <a:p>
            <a:pPr algn="ctr" indent="0" marL="0">
              <a:buNone/>
            </a:pPr>
            <a:r>
              <a:rPr lang="en-US" sz="1100" b="1" dirty="0">
                <a:solidFill>
                  <a:srgbClr val="7F8C9A"/>
                </a:solidFill>
                <a:latin typeface="Arial Black" pitchFamily="34" charset="0"/>
                <a:ea typeface="Arial Black" pitchFamily="34" charset="-122"/>
                <a:cs typeface="Arial Black" pitchFamily="34" charset="-120"/>
              </a:rPr>
              <a:t>#4</a:t>
            </a:r>
            <a:endParaRPr lang="en-US" sz="1100" dirty="0"/>
          </a:p>
        </p:txBody>
      </p:sp>
      <p:sp>
        <p:nvSpPr>
          <p:cNvPr id="25" name="Text 22"/>
          <p:cNvSpPr/>
          <p:nvPr/>
        </p:nvSpPr>
        <p:spPr>
          <a:xfrm>
            <a:off x="6080760" y="2871216"/>
            <a:ext cx="1554480" cy="457200"/>
          </a:xfrm>
          <a:prstGeom prst="rect">
            <a:avLst/>
          </a:prstGeom>
          <a:noFill/>
          <a:ln/>
        </p:spPr>
        <p:txBody>
          <a:bodyPr wrap="square" rtlCol="0" anchor="ctr"/>
          <a:lstStyle/>
          <a:p>
            <a:pPr indent="0" marL="0">
              <a:buNone/>
            </a:pPr>
            <a:r>
              <a:rPr lang="en-US" sz="1000" dirty="0">
                <a:solidFill>
                  <a:srgbClr val="1A1A2E"/>
                </a:solidFill>
                <a:latin typeface="Trebuchet MS" pitchFamily="34" charset="0"/>
                <a:ea typeface="Trebuchet MS" pitchFamily="34" charset="-122"/>
                <a:cs typeface="Trebuchet MS" pitchFamily="34" charset="-120"/>
              </a:rPr>
              <a:t>Dollar Tree</a:t>
            </a:r>
            <a:endParaRPr lang="en-US" sz="1000" dirty="0"/>
          </a:p>
        </p:txBody>
      </p:sp>
      <p:sp>
        <p:nvSpPr>
          <p:cNvPr id="26" name="Text 23"/>
          <p:cNvSpPr/>
          <p:nvPr/>
        </p:nvSpPr>
        <p:spPr>
          <a:xfrm>
            <a:off x="7653528" y="2871216"/>
            <a:ext cx="1078992" cy="457200"/>
          </a:xfrm>
          <a:prstGeom prst="rect">
            <a:avLst/>
          </a:prstGeom>
          <a:noFill/>
          <a:ln/>
        </p:spPr>
        <p:txBody>
          <a:bodyPr wrap="square" rtlCol="0" anchor="ctr"/>
          <a:lstStyle/>
          <a:p>
            <a:pPr algn="r" indent="0" marL="0">
              <a:buNone/>
            </a:pPr>
            <a:r>
              <a:rPr lang="en-US" sz="1050" b="1" dirty="0">
                <a:solidFill>
                  <a:srgbClr val="7F8C9A"/>
                </a:solidFill>
                <a:latin typeface="Trebuchet MS" pitchFamily="34" charset="0"/>
                <a:ea typeface="Trebuchet MS" pitchFamily="34" charset="-122"/>
                <a:cs typeface="Trebuchet MS" pitchFamily="34" charset="-120"/>
              </a:rPr>
              <a:t>68.4 pts/$M</a:t>
            </a:r>
            <a:endParaRPr lang="en-US" sz="1050" dirty="0"/>
          </a:p>
        </p:txBody>
      </p:sp>
      <p:sp>
        <p:nvSpPr>
          <p:cNvPr id="27" name="Shape 24"/>
          <p:cNvSpPr/>
          <p:nvPr/>
        </p:nvSpPr>
        <p:spPr>
          <a:xfrm>
            <a:off x="5577840" y="3401568"/>
            <a:ext cx="3154680" cy="457200"/>
          </a:xfrm>
          <a:prstGeom prst="rect">
            <a:avLst/>
          </a:prstGeom>
          <a:solidFill>
            <a:srgbClr val="FFF0F0"/>
          </a:solidFill>
          <a:ln w="6350">
            <a:solidFill>
              <a:srgbClr val="8B2020"/>
            </a:solidFill>
            <a:prstDash val="solid"/>
          </a:ln>
        </p:spPr>
      </p:sp>
      <p:sp>
        <p:nvSpPr>
          <p:cNvPr id="28" name="Shape 25"/>
          <p:cNvSpPr/>
          <p:nvPr/>
        </p:nvSpPr>
        <p:spPr>
          <a:xfrm>
            <a:off x="5577840" y="3401568"/>
            <a:ext cx="54864" cy="457200"/>
          </a:xfrm>
          <a:prstGeom prst="rect">
            <a:avLst/>
          </a:prstGeom>
          <a:solidFill>
            <a:srgbClr val="8B2020"/>
          </a:solidFill>
          <a:ln/>
        </p:spPr>
      </p:sp>
      <p:sp>
        <p:nvSpPr>
          <p:cNvPr id="29" name="Text 26"/>
          <p:cNvSpPr/>
          <p:nvPr/>
        </p:nvSpPr>
        <p:spPr>
          <a:xfrm>
            <a:off x="5650992" y="3401568"/>
            <a:ext cx="411480" cy="457200"/>
          </a:xfrm>
          <a:prstGeom prst="rect">
            <a:avLst/>
          </a:prstGeom>
          <a:noFill/>
          <a:ln/>
        </p:spPr>
        <p:txBody>
          <a:bodyPr wrap="square" rtlCol="0" anchor="ctr"/>
          <a:lstStyle/>
          <a:p>
            <a:pPr algn="ctr" indent="0" marL="0">
              <a:buNone/>
            </a:pPr>
            <a:r>
              <a:rPr lang="en-US" sz="1100" b="1" dirty="0">
                <a:solidFill>
                  <a:srgbClr val="8B2020"/>
                </a:solidFill>
                <a:latin typeface="Arial Black" pitchFamily="34" charset="0"/>
                <a:ea typeface="Arial Black" pitchFamily="34" charset="-122"/>
                <a:cs typeface="Arial Black" pitchFamily="34" charset="-120"/>
              </a:rPr>
              <a:t>#5</a:t>
            </a:r>
            <a:endParaRPr lang="en-US" sz="1100" dirty="0"/>
          </a:p>
        </p:txBody>
      </p:sp>
      <p:sp>
        <p:nvSpPr>
          <p:cNvPr id="30" name="Text 27"/>
          <p:cNvSpPr/>
          <p:nvPr/>
        </p:nvSpPr>
        <p:spPr>
          <a:xfrm>
            <a:off x="6080760" y="3401568"/>
            <a:ext cx="1554480" cy="457200"/>
          </a:xfrm>
          <a:prstGeom prst="rect">
            <a:avLst/>
          </a:prstGeom>
          <a:noFill/>
          <a:ln/>
        </p:spPr>
        <p:txBody>
          <a:bodyPr wrap="square" rtlCol="0" anchor="ctr"/>
          <a:lstStyle/>
          <a:p>
            <a:pPr indent="0" marL="0">
              <a:buNone/>
            </a:pPr>
            <a:r>
              <a:rPr lang="en-US" sz="1000" dirty="0">
                <a:solidFill>
                  <a:srgbClr val="1A1A2E"/>
                </a:solidFill>
                <a:latin typeface="Trebuchet MS" pitchFamily="34" charset="0"/>
                <a:ea typeface="Trebuchet MS" pitchFamily="34" charset="-122"/>
                <a:cs typeface="Trebuchet MS" pitchFamily="34" charset="-120"/>
              </a:rPr>
              <a:t>NAPA Auto Parts</a:t>
            </a:r>
            <a:endParaRPr lang="en-US" sz="1000" dirty="0"/>
          </a:p>
        </p:txBody>
      </p:sp>
      <p:sp>
        <p:nvSpPr>
          <p:cNvPr id="31" name="Text 28"/>
          <p:cNvSpPr/>
          <p:nvPr/>
        </p:nvSpPr>
        <p:spPr>
          <a:xfrm>
            <a:off x="7653528" y="3401568"/>
            <a:ext cx="1078992" cy="457200"/>
          </a:xfrm>
          <a:prstGeom prst="rect">
            <a:avLst/>
          </a:prstGeom>
          <a:noFill/>
          <a:ln/>
        </p:spPr>
        <p:txBody>
          <a:bodyPr wrap="square" rtlCol="0" anchor="ctr"/>
          <a:lstStyle/>
          <a:p>
            <a:pPr algn="r" indent="0" marL="0">
              <a:buNone/>
            </a:pPr>
            <a:r>
              <a:rPr lang="en-US" sz="1050" b="1" dirty="0">
                <a:solidFill>
                  <a:srgbClr val="8B2020"/>
                </a:solidFill>
                <a:latin typeface="Trebuchet MS" pitchFamily="34" charset="0"/>
                <a:ea typeface="Trebuchet MS" pitchFamily="34" charset="-122"/>
                <a:cs typeface="Trebuchet MS" pitchFamily="34" charset="-120"/>
              </a:rPr>
              <a:t>62.0 pts/$M</a:t>
            </a:r>
            <a:endParaRPr lang="en-US" sz="1050" dirty="0"/>
          </a:p>
        </p:txBody>
      </p:sp>
      <p:sp>
        <p:nvSpPr>
          <p:cNvPr id="32" name="Shape 29"/>
          <p:cNvSpPr/>
          <p:nvPr/>
        </p:nvSpPr>
        <p:spPr>
          <a:xfrm>
            <a:off x="0" y="4370832"/>
            <a:ext cx="9144000" cy="772668"/>
          </a:xfrm>
          <a:prstGeom prst="rect">
            <a:avLst/>
          </a:prstGeom>
          <a:solidFill>
            <a:srgbClr val="EFF4FA"/>
          </a:solidFill>
          <a:ln/>
        </p:spPr>
      </p:sp>
      <p:sp>
        <p:nvSpPr>
          <p:cNvPr id="33" name="Text 30"/>
          <p:cNvSpPr/>
          <p:nvPr/>
        </p:nvSpPr>
        <p:spPr>
          <a:xfrm>
            <a:off x="411480" y="4407408"/>
            <a:ext cx="8321040" cy="502920"/>
          </a:xfrm>
          <a:prstGeom prst="rect">
            <a:avLst/>
          </a:prstGeom>
          <a:noFill/>
          <a:ln/>
        </p:spPr>
        <p:txBody>
          <a:bodyPr wrap="square" rtlCol="0" anchor="ctr"/>
          <a:lstStyle/>
          <a:p>
            <a:pPr indent="0" marL="0">
              <a:buNone/>
            </a:pPr>
            <a:r>
              <a:rPr lang="en-US" sz="1050" i="1" dirty="0">
                <a:solidFill>
                  <a:srgbClr val="1B3A5C"/>
                </a:solidFill>
                <a:latin typeface="Trebuchet MS" pitchFamily="34" charset="0"/>
                <a:ea typeface="Trebuchet MS" pitchFamily="34" charset="-122"/>
                <a:cs typeface="Trebuchet MS" pitchFamily="34" charset="-120"/>
              </a:rPr>
              <a:t>So what?  Maximum visibility and maximum value are not the same purchase. Monster Energy sits in the sweet spot — 3× the visibility of Love's at only 7% lower efficiency.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rtlCol="0" anchor="ctr"/>
          <a:lstStyle/>
          <a:p>
            <a:pPr indent="0" marL="0">
              <a:buNone/>
            </a:pPr>
            <a:r>
              <a:rPr lang="en-US" sz="1600" b="1" dirty="0">
                <a:solidFill>
                  <a:srgbClr val="1B3A5C"/>
                </a:solidFill>
                <a:latin typeface="Arial" pitchFamily="34" charset="0"/>
                <a:ea typeface="Arial" pitchFamily="34" charset="-122"/>
                <a:cs typeface="Arial" pitchFamily="34" charset="-120"/>
              </a:rPr>
              <a:t>Three Sponsors, Three Strategies — One Clear Primary Recommendation for NY Racing</a:t>
            </a:r>
            <a:endParaRPr lang="en-US" sz="1600" dirty="0"/>
          </a:p>
        </p:txBody>
      </p:sp>
      <p:sp>
        <p:nvSpPr>
          <p:cNvPr id="3" name="Shape 1"/>
          <p:cNvSpPr/>
          <p:nvPr/>
        </p:nvSpPr>
        <p:spPr>
          <a:xfrm>
            <a:off x="411480" y="731520"/>
            <a:ext cx="8321040" cy="22860"/>
          </a:xfrm>
          <a:prstGeom prst="rect">
            <a:avLst/>
          </a:prstGeom>
          <a:solidFill>
            <a:srgbClr val="26A69A"/>
          </a:solidFill>
          <a:ln/>
        </p:spPr>
      </p:sp>
      <p:sp>
        <p:nvSpPr>
          <p:cNvPr id="4" name="Shape 2"/>
          <p:cNvSpPr/>
          <p:nvPr/>
        </p:nvSpPr>
        <p:spPr>
          <a:xfrm>
            <a:off x="411480" y="914400"/>
            <a:ext cx="3703320" cy="3337560"/>
          </a:xfrm>
          <a:prstGeom prst="rect">
            <a:avLst/>
          </a:prstGeom>
          <a:solidFill>
            <a:srgbClr val="1B3A5C"/>
          </a:solidFill>
          <a:ln/>
          <a:effectLst>
            <a:outerShdw sx="100000" sy="100000" kx="0" ky="0" algn="bl" rotWithShape="0" blurRad="101600" dist="38100" dir="8100000">
              <a:srgbClr val="000000">
                <a:alpha val="12000"/>
              </a:srgbClr>
            </a:outerShdw>
          </a:effectLst>
        </p:spPr>
      </p:sp>
      <p:sp>
        <p:nvSpPr>
          <p:cNvPr id="5" name="Shape 3"/>
          <p:cNvSpPr/>
          <p:nvPr/>
        </p:nvSpPr>
        <p:spPr>
          <a:xfrm>
            <a:off x="411480" y="914400"/>
            <a:ext cx="3703320" cy="64008"/>
          </a:xfrm>
          <a:prstGeom prst="rect">
            <a:avLst/>
          </a:prstGeom>
          <a:solidFill>
            <a:srgbClr val="F4A700"/>
          </a:solidFill>
          <a:ln/>
        </p:spPr>
      </p:sp>
      <p:sp>
        <p:nvSpPr>
          <p:cNvPr id="6" name="Text 4"/>
          <p:cNvSpPr/>
          <p:nvPr/>
        </p:nvSpPr>
        <p:spPr>
          <a:xfrm>
            <a:off x="502920" y="1005840"/>
            <a:ext cx="3520440" cy="256032"/>
          </a:xfrm>
          <a:prstGeom prst="rect">
            <a:avLst/>
          </a:prstGeom>
          <a:noFill/>
          <a:ln/>
        </p:spPr>
        <p:txBody>
          <a:bodyPr wrap="square" rtlCol="0" anchor="ctr"/>
          <a:lstStyle/>
          <a:p>
            <a:pPr algn="ctr" indent="0" marL="0">
              <a:buNone/>
            </a:pPr>
            <a:r>
              <a:rPr lang="en-US" sz="800" b="1" spc="300" kern="0" dirty="0">
                <a:solidFill>
                  <a:srgbClr val="26A69A"/>
                </a:solidFill>
                <a:latin typeface="Trebuchet MS" pitchFamily="34" charset="0"/>
                <a:ea typeface="Trebuchet MS" pitchFamily="34" charset="-122"/>
                <a:cs typeface="Trebuchet MS" pitchFamily="34" charset="-120"/>
              </a:rPr>
              <a:t>PRIMARY</a:t>
            </a:r>
            <a:endParaRPr lang="en-US" sz="800" dirty="0"/>
          </a:p>
        </p:txBody>
      </p:sp>
      <p:sp>
        <p:nvSpPr>
          <p:cNvPr id="7" name="Text 5"/>
          <p:cNvSpPr/>
          <p:nvPr/>
        </p:nvSpPr>
        <p:spPr>
          <a:xfrm>
            <a:off x="502920" y="1280160"/>
            <a:ext cx="3520440" cy="50292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MONSTER ENERGY</a:t>
            </a:r>
            <a:endParaRPr lang="en-US" sz="2200" dirty="0"/>
          </a:p>
        </p:txBody>
      </p:sp>
      <p:sp>
        <p:nvSpPr>
          <p:cNvPr id="8" name="Text 6"/>
          <p:cNvSpPr/>
          <p:nvPr/>
        </p:nvSpPr>
        <p:spPr>
          <a:xfrm>
            <a:off x="502920" y="1783080"/>
            <a:ext cx="3520440" cy="274320"/>
          </a:xfrm>
          <a:prstGeom prst="rect">
            <a:avLst/>
          </a:prstGeom>
          <a:noFill/>
          <a:ln/>
        </p:spPr>
        <p:txBody>
          <a:bodyPr wrap="square" rtlCol="0" anchor="ctr"/>
          <a:lstStyle/>
          <a:p>
            <a:pPr algn="ctr" indent="0" marL="0">
              <a:buNone/>
            </a:pPr>
            <a:r>
              <a:rPr lang="en-US" sz="900" dirty="0">
                <a:solidFill>
                  <a:srgbClr val="BDD4E7"/>
                </a:solidFill>
                <a:latin typeface="Trebuchet MS" pitchFamily="34" charset="0"/>
                <a:ea typeface="Trebuchet MS" pitchFamily="34" charset="-122"/>
                <a:cs typeface="Trebuchet MS" pitchFamily="34" charset="-120"/>
              </a:rPr>
              <a:t>Tyler Reddick  ·  23XI Racing  ·  Car #45</a:t>
            </a:r>
            <a:endParaRPr lang="en-US" sz="900" dirty="0"/>
          </a:p>
        </p:txBody>
      </p:sp>
      <p:sp>
        <p:nvSpPr>
          <p:cNvPr id="9" name="Shape 7"/>
          <p:cNvSpPr/>
          <p:nvPr/>
        </p:nvSpPr>
        <p:spPr>
          <a:xfrm>
            <a:off x="731520" y="2103120"/>
            <a:ext cx="3063240" cy="18288"/>
          </a:xfrm>
          <a:prstGeom prst="rect">
            <a:avLst/>
          </a:prstGeom>
          <a:solidFill>
            <a:srgbClr val="26A69A">
              <a:alpha val="50000"/>
            </a:srgbClr>
          </a:solidFill>
          <a:ln/>
        </p:spPr>
      </p:sp>
      <p:sp>
        <p:nvSpPr>
          <p:cNvPr id="10" name="Text 8"/>
          <p:cNvSpPr/>
          <p:nvPr/>
        </p:nvSpPr>
        <p:spPr>
          <a:xfrm>
            <a:off x="502920" y="2212848"/>
            <a:ext cx="3520440" cy="182880"/>
          </a:xfrm>
          <a:prstGeom prst="rect">
            <a:avLst/>
          </a:prstGeom>
          <a:noFill/>
          <a:ln/>
        </p:spPr>
        <p:txBody>
          <a:bodyPr wrap="square" rtlCol="0" anchor="ctr"/>
          <a:lstStyle/>
          <a:p>
            <a:pPr algn="ctr" indent="0" marL="0">
              <a:buNone/>
            </a:pPr>
            <a:r>
              <a:rPr lang="en-US" sz="800" dirty="0">
                <a:solidFill>
                  <a:srgbClr val="26A69A"/>
                </a:solidFill>
                <a:latin typeface="Trebuchet MS" pitchFamily="34" charset="0"/>
                <a:ea typeface="Trebuchet MS" pitchFamily="34" charset="-122"/>
                <a:cs typeface="Trebuchet MS" pitchFamily="34" charset="-120"/>
              </a:rPr>
              <a:t>Visibility Score</a:t>
            </a:r>
            <a:endParaRPr lang="en-US" sz="800" dirty="0"/>
          </a:p>
        </p:txBody>
      </p:sp>
      <p:sp>
        <p:nvSpPr>
          <p:cNvPr id="11" name="Text 9"/>
          <p:cNvSpPr/>
          <p:nvPr/>
        </p:nvSpPr>
        <p:spPr>
          <a:xfrm>
            <a:off x="502920" y="2395728"/>
            <a:ext cx="3520440" cy="228600"/>
          </a:xfrm>
          <a:prstGeom prst="rect">
            <a:avLst/>
          </a:prstGeom>
          <a:noFill/>
          <a:ln/>
        </p:spPr>
        <p:txBody>
          <a:bodyPr wrap="square" rtlCol="0" anchor="ctr"/>
          <a:lstStyle/>
          <a:p>
            <a:pPr algn="ctr" indent="0" marL="0">
              <a:buNone/>
            </a:pPr>
            <a:r>
              <a:rPr lang="en-US" sz="1150" b="1" dirty="0">
                <a:solidFill>
                  <a:srgbClr val="FFFFFF"/>
                </a:solidFill>
                <a:latin typeface="Trebuchet MS" pitchFamily="34" charset="0"/>
                <a:ea typeface="Trebuchet MS" pitchFamily="34" charset="-122"/>
                <a:cs typeface="Trebuchet MS" pitchFamily="34" charset="-120"/>
              </a:rPr>
              <a:t>#2  ·  1,343 pts</a:t>
            </a:r>
            <a:endParaRPr lang="en-US" sz="1150" dirty="0"/>
          </a:p>
        </p:txBody>
      </p:sp>
      <p:sp>
        <p:nvSpPr>
          <p:cNvPr id="12" name="Text 10"/>
          <p:cNvSpPr/>
          <p:nvPr/>
        </p:nvSpPr>
        <p:spPr>
          <a:xfrm>
            <a:off x="502920" y="2670048"/>
            <a:ext cx="3520440" cy="182880"/>
          </a:xfrm>
          <a:prstGeom prst="rect">
            <a:avLst/>
          </a:prstGeom>
          <a:noFill/>
          <a:ln/>
        </p:spPr>
        <p:txBody>
          <a:bodyPr wrap="square" rtlCol="0" anchor="ctr"/>
          <a:lstStyle/>
          <a:p>
            <a:pPr algn="ctr" indent="0" marL="0">
              <a:buNone/>
            </a:pPr>
            <a:r>
              <a:rPr lang="en-US" sz="800" dirty="0">
                <a:solidFill>
                  <a:srgbClr val="26A69A"/>
                </a:solidFill>
                <a:latin typeface="Trebuchet MS" pitchFamily="34" charset="0"/>
                <a:ea typeface="Trebuchet MS" pitchFamily="34" charset="-122"/>
                <a:cs typeface="Trebuchet MS" pitchFamily="34" charset="-120"/>
              </a:rPr>
              <a:t>Efficiency</a:t>
            </a:r>
            <a:endParaRPr lang="en-US" sz="800" dirty="0"/>
          </a:p>
        </p:txBody>
      </p:sp>
      <p:sp>
        <p:nvSpPr>
          <p:cNvPr id="13" name="Text 11"/>
          <p:cNvSpPr/>
          <p:nvPr/>
        </p:nvSpPr>
        <p:spPr>
          <a:xfrm>
            <a:off x="502920" y="2852928"/>
            <a:ext cx="3520440" cy="228600"/>
          </a:xfrm>
          <a:prstGeom prst="rect">
            <a:avLst/>
          </a:prstGeom>
          <a:noFill/>
          <a:ln/>
        </p:spPr>
        <p:txBody>
          <a:bodyPr wrap="square" rtlCol="0" anchor="ctr"/>
          <a:lstStyle/>
          <a:p>
            <a:pPr algn="ctr" indent="0" marL="0">
              <a:buNone/>
            </a:pPr>
            <a:r>
              <a:rPr lang="en-US" sz="1150" b="1" dirty="0">
                <a:solidFill>
                  <a:srgbClr val="FFFFFF"/>
                </a:solidFill>
                <a:latin typeface="Trebuchet MS" pitchFamily="34" charset="0"/>
                <a:ea typeface="Trebuchet MS" pitchFamily="34" charset="-122"/>
                <a:cs typeface="Trebuchet MS" pitchFamily="34" charset="-120"/>
              </a:rPr>
              <a:t>#3  ·  76.8 pts/$M</a:t>
            </a:r>
            <a:endParaRPr lang="en-US" sz="1150" dirty="0"/>
          </a:p>
        </p:txBody>
      </p:sp>
      <p:sp>
        <p:nvSpPr>
          <p:cNvPr id="14" name="Text 12"/>
          <p:cNvSpPr/>
          <p:nvPr/>
        </p:nvSpPr>
        <p:spPr>
          <a:xfrm>
            <a:off x="502920" y="3127248"/>
            <a:ext cx="3520440" cy="182880"/>
          </a:xfrm>
          <a:prstGeom prst="rect">
            <a:avLst/>
          </a:prstGeom>
          <a:noFill/>
          <a:ln/>
        </p:spPr>
        <p:txBody>
          <a:bodyPr wrap="square" rtlCol="0" anchor="ctr"/>
          <a:lstStyle/>
          <a:p>
            <a:pPr algn="ctr" indent="0" marL="0">
              <a:buNone/>
            </a:pPr>
            <a:r>
              <a:rPr lang="en-US" sz="800" dirty="0">
                <a:solidFill>
                  <a:srgbClr val="26A69A"/>
                </a:solidFill>
                <a:latin typeface="Trebuchet MS" pitchFamily="34" charset="0"/>
                <a:ea typeface="Trebuchet MS" pitchFamily="34" charset="-122"/>
                <a:cs typeface="Trebuchet MS" pitchFamily="34" charset="-120"/>
              </a:rPr>
              <a:t>Est. Annual Cost</a:t>
            </a:r>
            <a:endParaRPr lang="en-US" sz="800" dirty="0"/>
          </a:p>
        </p:txBody>
      </p:sp>
      <p:sp>
        <p:nvSpPr>
          <p:cNvPr id="15" name="Text 13"/>
          <p:cNvSpPr/>
          <p:nvPr/>
        </p:nvSpPr>
        <p:spPr>
          <a:xfrm>
            <a:off x="502920" y="3310128"/>
            <a:ext cx="3520440" cy="228600"/>
          </a:xfrm>
          <a:prstGeom prst="rect">
            <a:avLst/>
          </a:prstGeom>
          <a:noFill/>
          <a:ln/>
        </p:spPr>
        <p:txBody>
          <a:bodyPr wrap="square" rtlCol="0" anchor="ctr"/>
          <a:lstStyle/>
          <a:p>
            <a:pPr algn="ctr" indent="0" marL="0">
              <a:buNone/>
            </a:pPr>
            <a:r>
              <a:rPr lang="en-US" sz="1150" b="1" dirty="0">
                <a:solidFill>
                  <a:srgbClr val="FFFFFF"/>
                </a:solidFill>
                <a:latin typeface="Trebuchet MS" pitchFamily="34" charset="0"/>
                <a:ea typeface="Trebuchet MS" pitchFamily="34" charset="-122"/>
                <a:cs typeface="Trebuchet MS" pitchFamily="34" charset="-120"/>
              </a:rPr>
              <a:t>$17.5M</a:t>
            </a:r>
            <a:endParaRPr lang="en-US" sz="1150" dirty="0"/>
          </a:p>
        </p:txBody>
      </p:sp>
      <p:sp>
        <p:nvSpPr>
          <p:cNvPr id="16" name="Text 14"/>
          <p:cNvSpPr/>
          <p:nvPr/>
        </p:nvSpPr>
        <p:spPr>
          <a:xfrm>
            <a:off x="502920" y="3584448"/>
            <a:ext cx="3520440" cy="182880"/>
          </a:xfrm>
          <a:prstGeom prst="rect">
            <a:avLst/>
          </a:prstGeom>
          <a:noFill/>
          <a:ln/>
        </p:spPr>
        <p:txBody>
          <a:bodyPr wrap="square" rtlCol="0" anchor="ctr"/>
          <a:lstStyle/>
          <a:p>
            <a:pPr algn="ctr" indent="0" marL="0">
              <a:buNone/>
            </a:pPr>
            <a:r>
              <a:rPr lang="en-US" sz="800" dirty="0">
                <a:solidFill>
                  <a:srgbClr val="26A69A"/>
                </a:solidFill>
                <a:latin typeface="Trebuchet MS" pitchFamily="34" charset="0"/>
                <a:ea typeface="Trebuchet MS" pitchFamily="34" charset="-122"/>
                <a:cs typeface="Trebuchet MS" pitchFamily="34" charset="-120"/>
              </a:rPr>
              <a:t>Wins (2024)</a:t>
            </a:r>
            <a:endParaRPr lang="en-US" sz="800" dirty="0"/>
          </a:p>
        </p:txBody>
      </p:sp>
      <p:sp>
        <p:nvSpPr>
          <p:cNvPr id="17" name="Text 15"/>
          <p:cNvSpPr/>
          <p:nvPr/>
        </p:nvSpPr>
        <p:spPr>
          <a:xfrm>
            <a:off x="502920" y="3767328"/>
            <a:ext cx="3520440" cy="228600"/>
          </a:xfrm>
          <a:prstGeom prst="rect">
            <a:avLst/>
          </a:prstGeom>
          <a:noFill/>
          <a:ln/>
        </p:spPr>
        <p:txBody>
          <a:bodyPr wrap="square" rtlCol="0" anchor="ctr"/>
          <a:lstStyle/>
          <a:p>
            <a:pPr algn="ctr" indent="0" marL="0">
              <a:buNone/>
            </a:pPr>
            <a:r>
              <a:rPr lang="en-US" sz="1150" b="1" dirty="0">
                <a:solidFill>
                  <a:srgbClr val="FFFFFF"/>
                </a:solidFill>
                <a:latin typeface="Trebuchet MS" pitchFamily="34" charset="0"/>
                <a:ea typeface="Trebuchet MS" pitchFamily="34" charset="-122"/>
                <a:cs typeface="Trebuchet MS" pitchFamily="34" charset="-120"/>
              </a:rPr>
              <a:t>4  ·  Avg Finish: 9.2</a:t>
            </a:r>
            <a:endParaRPr lang="en-US" sz="1150" dirty="0"/>
          </a:p>
        </p:txBody>
      </p:sp>
      <p:sp>
        <p:nvSpPr>
          <p:cNvPr id="18" name="Text 16"/>
          <p:cNvSpPr/>
          <p:nvPr/>
        </p:nvSpPr>
        <p:spPr>
          <a:xfrm>
            <a:off x="502920" y="3977640"/>
            <a:ext cx="3520440" cy="228600"/>
          </a:xfrm>
          <a:prstGeom prst="rect">
            <a:avLst/>
          </a:prstGeom>
          <a:noFill/>
          <a:ln/>
        </p:spPr>
        <p:txBody>
          <a:bodyPr wrap="square" rtlCol="0" anchor="ctr"/>
          <a:lstStyle/>
          <a:p>
            <a:pPr algn="ctr" indent="0" marL="0">
              <a:buNone/>
            </a:pPr>
            <a:r>
              <a:rPr lang="en-US" sz="900" i="1" dirty="0">
                <a:solidFill>
                  <a:srgbClr val="F4A700"/>
                </a:solidFill>
                <a:latin typeface="Trebuchet MS" pitchFamily="34" charset="0"/>
                <a:ea typeface="Trebuchet MS" pitchFamily="34" charset="-122"/>
                <a:cs typeface="Trebuchet MS" pitchFamily="34" charset="-120"/>
              </a:rPr>
              <a:t>Best balance: defensible to CMO and CFO simultaneously</a:t>
            </a:r>
            <a:endParaRPr lang="en-US" sz="900" dirty="0"/>
          </a:p>
        </p:txBody>
      </p:sp>
      <p:sp>
        <p:nvSpPr>
          <p:cNvPr id="19" name="Shape 17"/>
          <p:cNvSpPr/>
          <p:nvPr/>
        </p:nvSpPr>
        <p:spPr>
          <a:xfrm>
            <a:off x="4297680" y="914400"/>
            <a:ext cx="2194560" cy="3337560"/>
          </a:xfrm>
          <a:prstGeom prst="rect">
            <a:avLst/>
          </a:prstGeom>
          <a:solidFill>
            <a:srgbClr val="26A69A"/>
          </a:solidFill>
          <a:ln/>
          <a:effectLst>
            <a:outerShdw sx="100000" sy="100000" kx="0" ky="0" algn="bl" rotWithShape="0" blurRad="101600" dist="38100" dir="8100000">
              <a:srgbClr val="000000">
                <a:alpha val="12000"/>
              </a:srgbClr>
            </a:outerShdw>
          </a:effectLst>
        </p:spPr>
      </p:sp>
      <p:sp>
        <p:nvSpPr>
          <p:cNvPr id="20" name="Shape 18"/>
          <p:cNvSpPr/>
          <p:nvPr/>
        </p:nvSpPr>
        <p:spPr>
          <a:xfrm>
            <a:off x="4297680" y="914400"/>
            <a:ext cx="2194560" cy="64008"/>
          </a:xfrm>
          <a:prstGeom prst="rect">
            <a:avLst/>
          </a:prstGeom>
          <a:solidFill>
            <a:srgbClr val="1B3A5C"/>
          </a:solidFill>
          <a:ln/>
        </p:spPr>
      </p:sp>
      <p:sp>
        <p:nvSpPr>
          <p:cNvPr id="21" name="Text 19"/>
          <p:cNvSpPr/>
          <p:nvPr/>
        </p:nvSpPr>
        <p:spPr>
          <a:xfrm>
            <a:off x="4389120" y="1005840"/>
            <a:ext cx="2011680" cy="256032"/>
          </a:xfrm>
          <a:prstGeom prst="rect">
            <a:avLst/>
          </a:prstGeom>
          <a:noFill/>
          <a:ln/>
        </p:spPr>
        <p:txBody>
          <a:bodyPr wrap="square" rtlCol="0" anchor="ctr"/>
          <a:lstStyle/>
          <a:p>
            <a:pPr algn="ctr" indent="0" marL="0">
              <a:buNone/>
            </a:pPr>
            <a:r>
              <a:rPr lang="en-US" sz="800" b="1" spc="200" kern="0" dirty="0">
                <a:solidFill>
                  <a:srgbClr val="FFFFFF"/>
                </a:solidFill>
                <a:latin typeface="Trebuchet MS" pitchFamily="34" charset="0"/>
                <a:ea typeface="Trebuchet MS" pitchFamily="34" charset="-122"/>
                <a:cs typeface="Trebuchet MS" pitchFamily="34" charset="-120"/>
              </a:rPr>
              <a:t>SECONDARY</a:t>
            </a:r>
            <a:endParaRPr lang="en-US" sz="800" dirty="0"/>
          </a:p>
        </p:txBody>
      </p:sp>
      <p:sp>
        <p:nvSpPr>
          <p:cNvPr id="22" name="Text 20"/>
          <p:cNvSpPr/>
          <p:nvPr/>
        </p:nvSpPr>
        <p:spPr>
          <a:xfrm>
            <a:off x="4389120" y="1280160"/>
            <a:ext cx="2011680" cy="45720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FASTENAL</a:t>
            </a:r>
            <a:endParaRPr lang="en-US" sz="1800" dirty="0"/>
          </a:p>
        </p:txBody>
      </p:sp>
      <p:sp>
        <p:nvSpPr>
          <p:cNvPr id="23" name="Text 21"/>
          <p:cNvSpPr/>
          <p:nvPr/>
        </p:nvSpPr>
        <p:spPr>
          <a:xfrm>
            <a:off x="4389120" y="1755648"/>
            <a:ext cx="2011680" cy="256032"/>
          </a:xfrm>
          <a:prstGeom prst="rect">
            <a:avLst/>
          </a:prstGeom>
          <a:noFill/>
          <a:ln/>
        </p:spPr>
        <p:txBody>
          <a:bodyPr wrap="square" rtlCol="0" anchor="ctr"/>
          <a:lstStyle/>
          <a:p>
            <a:pPr algn="ctr" indent="0" marL="0">
              <a:buNone/>
            </a:pPr>
            <a:r>
              <a:rPr lang="en-US" sz="850" dirty="0">
                <a:solidFill>
                  <a:srgbClr val="1B3A5C"/>
                </a:solidFill>
                <a:latin typeface="Trebuchet MS" pitchFamily="34" charset="0"/>
                <a:ea typeface="Trebuchet MS" pitchFamily="34" charset="-122"/>
                <a:cs typeface="Trebuchet MS" pitchFamily="34" charset="-120"/>
              </a:rPr>
              <a:t>Buescher · RFK · #17</a:t>
            </a:r>
            <a:endParaRPr lang="en-US" sz="850" dirty="0"/>
          </a:p>
        </p:txBody>
      </p:sp>
      <p:sp>
        <p:nvSpPr>
          <p:cNvPr id="24" name="Shape 22"/>
          <p:cNvSpPr/>
          <p:nvPr/>
        </p:nvSpPr>
        <p:spPr>
          <a:xfrm>
            <a:off x="4480560" y="2066544"/>
            <a:ext cx="1828800" cy="18288"/>
          </a:xfrm>
          <a:prstGeom prst="rect">
            <a:avLst/>
          </a:prstGeom>
          <a:solidFill>
            <a:srgbClr val="FFFFFF">
              <a:alpha val="50000"/>
            </a:srgbClr>
          </a:solidFill>
          <a:ln/>
        </p:spPr>
      </p:sp>
      <p:sp>
        <p:nvSpPr>
          <p:cNvPr id="25" name="Text 23"/>
          <p:cNvSpPr/>
          <p:nvPr/>
        </p:nvSpPr>
        <p:spPr>
          <a:xfrm>
            <a:off x="4389120" y="2157984"/>
            <a:ext cx="2011680" cy="201168"/>
          </a:xfrm>
          <a:prstGeom prst="rect">
            <a:avLst/>
          </a:prstGeom>
          <a:noFill/>
          <a:ln/>
        </p:spPr>
        <p:txBody>
          <a:bodyPr wrap="square" rtlCol="0" anchor="ctr"/>
          <a:lstStyle/>
          <a:p>
            <a:pPr algn="ctr" indent="0" marL="0">
              <a:buNone/>
            </a:pPr>
            <a:r>
              <a:rPr lang="en-US" sz="800" dirty="0">
                <a:solidFill>
                  <a:srgbClr val="1B3A5C"/>
                </a:solidFill>
                <a:latin typeface="Trebuchet MS" pitchFamily="34" charset="0"/>
                <a:ea typeface="Trebuchet MS" pitchFamily="34" charset="-122"/>
                <a:cs typeface="Trebuchet MS" pitchFamily="34" charset="-120"/>
              </a:rPr>
              <a:t>Visibility</a:t>
            </a:r>
            <a:endParaRPr lang="en-US" sz="800" dirty="0"/>
          </a:p>
        </p:txBody>
      </p:sp>
      <p:sp>
        <p:nvSpPr>
          <p:cNvPr id="26" name="Text 24"/>
          <p:cNvSpPr/>
          <p:nvPr/>
        </p:nvSpPr>
        <p:spPr>
          <a:xfrm>
            <a:off x="4389120" y="2359152"/>
            <a:ext cx="2011680" cy="256032"/>
          </a:xfrm>
          <a:prstGeom prst="rect">
            <a:avLst/>
          </a:prstGeom>
          <a:noFill/>
          <a:ln/>
        </p:spPr>
        <p:txBody>
          <a:bodyPr wrap="square"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#3  ·  853 pts</a:t>
            </a:r>
            <a:endParaRPr lang="en-US" sz="1100" dirty="0"/>
          </a:p>
        </p:txBody>
      </p:sp>
      <p:sp>
        <p:nvSpPr>
          <p:cNvPr id="27" name="Text 25"/>
          <p:cNvSpPr/>
          <p:nvPr/>
        </p:nvSpPr>
        <p:spPr>
          <a:xfrm>
            <a:off x="4389120" y="2706624"/>
            <a:ext cx="2011680" cy="201168"/>
          </a:xfrm>
          <a:prstGeom prst="rect">
            <a:avLst/>
          </a:prstGeom>
          <a:noFill/>
          <a:ln/>
        </p:spPr>
        <p:txBody>
          <a:bodyPr wrap="square" rtlCol="0" anchor="ctr"/>
          <a:lstStyle/>
          <a:p>
            <a:pPr algn="ctr" indent="0" marL="0">
              <a:buNone/>
            </a:pPr>
            <a:r>
              <a:rPr lang="en-US" sz="800" dirty="0">
                <a:solidFill>
                  <a:srgbClr val="1B3A5C"/>
                </a:solidFill>
                <a:latin typeface="Trebuchet MS" pitchFamily="34" charset="0"/>
                <a:ea typeface="Trebuchet MS" pitchFamily="34" charset="-122"/>
                <a:cs typeface="Trebuchet MS" pitchFamily="34" charset="-120"/>
              </a:rPr>
              <a:t>Efficiency</a:t>
            </a:r>
            <a:endParaRPr lang="en-US" sz="800" dirty="0"/>
          </a:p>
        </p:txBody>
      </p:sp>
      <p:sp>
        <p:nvSpPr>
          <p:cNvPr id="28" name="Text 26"/>
          <p:cNvSpPr/>
          <p:nvPr/>
        </p:nvSpPr>
        <p:spPr>
          <a:xfrm>
            <a:off x="4389120" y="2907792"/>
            <a:ext cx="2011680" cy="256032"/>
          </a:xfrm>
          <a:prstGeom prst="rect">
            <a:avLst/>
          </a:prstGeom>
          <a:noFill/>
          <a:ln/>
        </p:spPr>
        <p:txBody>
          <a:bodyPr wrap="square"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  ·  77.5 pts/$M</a:t>
            </a:r>
            <a:endParaRPr lang="en-US" sz="1100" dirty="0"/>
          </a:p>
        </p:txBody>
      </p:sp>
      <p:sp>
        <p:nvSpPr>
          <p:cNvPr id="29" name="Text 27"/>
          <p:cNvSpPr/>
          <p:nvPr/>
        </p:nvSpPr>
        <p:spPr>
          <a:xfrm>
            <a:off x="4389120" y="3255264"/>
            <a:ext cx="2011680" cy="201168"/>
          </a:xfrm>
          <a:prstGeom prst="rect">
            <a:avLst/>
          </a:prstGeom>
          <a:noFill/>
          <a:ln/>
        </p:spPr>
        <p:txBody>
          <a:bodyPr wrap="square" rtlCol="0" anchor="ctr"/>
          <a:lstStyle/>
          <a:p>
            <a:pPr algn="ctr" indent="0" marL="0">
              <a:buNone/>
            </a:pPr>
            <a:r>
              <a:rPr lang="en-US" sz="800" dirty="0">
                <a:solidFill>
                  <a:srgbClr val="1B3A5C"/>
                </a:solidFill>
                <a:latin typeface="Trebuchet MS" pitchFamily="34" charset="0"/>
                <a:ea typeface="Trebuchet MS" pitchFamily="34" charset="-122"/>
                <a:cs typeface="Trebuchet MS" pitchFamily="34" charset="-120"/>
              </a:rPr>
              <a:t>Est. Cost</a:t>
            </a:r>
            <a:endParaRPr lang="en-US" sz="800" dirty="0"/>
          </a:p>
        </p:txBody>
      </p:sp>
      <p:sp>
        <p:nvSpPr>
          <p:cNvPr id="30" name="Text 28"/>
          <p:cNvSpPr/>
          <p:nvPr/>
        </p:nvSpPr>
        <p:spPr>
          <a:xfrm>
            <a:off x="4389120" y="3456432"/>
            <a:ext cx="2011680" cy="256032"/>
          </a:xfrm>
          <a:prstGeom prst="rect">
            <a:avLst/>
          </a:prstGeom>
          <a:noFill/>
          <a:ln/>
        </p:spPr>
        <p:txBody>
          <a:bodyPr wrap="square"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$11M/year</a:t>
            </a:r>
            <a:endParaRPr lang="en-US" sz="1100" dirty="0"/>
          </a:p>
        </p:txBody>
      </p:sp>
      <p:sp>
        <p:nvSpPr>
          <p:cNvPr id="31" name="Text 29"/>
          <p:cNvSpPr/>
          <p:nvPr/>
        </p:nvSpPr>
        <p:spPr>
          <a:xfrm>
            <a:off x="4389120" y="3858768"/>
            <a:ext cx="2011680" cy="347472"/>
          </a:xfrm>
          <a:prstGeom prst="rect">
            <a:avLst/>
          </a:prstGeom>
          <a:noFill/>
          <a:ln/>
        </p:spPr>
        <p:txBody>
          <a:bodyPr wrap="square" rtlCol="0" anchor="ctr"/>
          <a:lstStyle/>
          <a:p>
            <a:pPr algn="ctr" indent="0" marL="0">
              <a:buNone/>
            </a:pPr>
            <a:r>
              <a:rPr lang="en-US" sz="900" i="1" dirty="0">
                <a:solidFill>
                  <a:srgbClr val="1B3A5C"/>
                </a:solidFill>
                <a:latin typeface="Trebuchet MS" pitchFamily="34" charset="0"/>
                <a:ea typeface="Trebuchet MS" pitchFamily="34" charset="-122"/>
                <a:cs typeface="Trebuchet MS" pitchFamily="34" charset="-120"/>
              </a:rPr>
              <a:t>0-rank efficiency swing</a:t>
            </a:r>
            <a:endParaRPr lang="en-US" sz="900" dirty="0"/>
          </a:p>
          <a:p>
            <a:pPr algn="ctr" indent="0" marL="0">
              <a:buNone/>
            </a:pPr>
            <a:r>
              <a:rPr lang="en-US" sz="900" i="1" dirty="0">
                <a:solidFill>
                  <a:srgbClr val="1B3A5C"/>
                </a:solidFill>
                <a:latin typeface="Trebuchet MS" pitchFamily="34" charset="0"/>
                <a:ea typeface="Trebuchet MS" pitchFamily="34" charset="-122"/>
                <a:cs typeface="Trebuchet MS" pitchFamily="34" charset="-120"/>
              </a:rPr>
              <a:t>across all cost scenarios</a:t>
            </a:r>
            <a:endParaRPr lang="en-US" sz="900" dirty="0"/>
          </a:p>
        </p:txBody>
      </p:sp>
      <p:sp>
        <p:nvSpPr>
          <p:cNvPr id="32" name="Shape 30"/>
          <p:cNvSpPr/>
          <p:nvPr/>
        </p:nvSpPr>
        <p:spPr>
          <a:xfrm>
            <a:off x="6675120" y="914400"/>
            <a:ext cx="2057400" cy="3337560"/>
          </a:xfrm>
          <a:prstGeom prst="rect">
            <a:avLst/>
          </a:prstGeom>
          <a:solidFill>
            <a:srgbClr val="FFFBF0"/>
          </a:solidFill>
          <a:ln w="25400">
            <a:solidFill>
              <a:srgbClr val="F4A700"/>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6675120" y="914400"/>
            <a:ext cx="2057400" cy="64008"/>
          </a:xfrm>
          <a:prstGeom prst="rect">
            <a:avLst/>
          </a:prstGeom>
          <a:solidFill>
            <a:srgbClr val="F4A700"/>
          </a:solidFill>
          <a:ln/>
        </p:spPr>
      </p:sp>
      <p:sp>
        <p:nvSpPr>
          <p:cNvPr id="34" name="Text 32"/>
          <p:cNvSpPr/>
          <p:nvPr/>
        </p:nvSpPr>
        <p:spPr>
          <a:xfrm>
            <a:off x="6766560" y="1005840"/>
            <a:ext cx="1874520" cy="256032"/>
          </a:xfrm>
          <a:prstGeom prst="rect">
            <a:avLst/>
          </a:prstGeom>
          <a:noFill/>
          <a:ln/>
        </p:spPr>
        <p:txBody>
          <a:bodyPr wrap="square" rtlCol="0" anchor="ctr"/>
          <a:lstStyle/>
          <a:p>
            <a:pPr algn="ctr" indent="0" marL="0">
              <a:buNone/>
            </a:pPr>
            <a:r>
              <a:rPr lang="en-US" sz="800" b="1" spc="150" kern="0" dirty="0">
                <a:solidFill>
                  <a:srgbClr val="8B5E00"/>
                </a:solidFill>
                <a:latin typeface="Trebuchet MS" pitchFamily="34" charset="0"/>
                <a:ea typeface="Trebuchet MS" pitchFamily="34" charset="-122"/>
                <a:cs typeface="Trebuchet MS" pitchFamily="34" charset="-120"/>
              </a:rPr>
              <a:t>ALTERNATIVE</a:t>
            </a:r>
            <a:endParaRPr lang="en-US" sz="800" dirty="0"/>
          </a:p>
        </p:txBody>
      </p:sp>
      <p:sp>
        <p:nvSpPr>
          <p:cNvPr id="35" name="Text 33"/>
          <p:cNvSpPr/>
          <p:nvPr/>
        </p:nvSpPr>
        <p:spPr>
          <a:xfrm>
            <a:off x="6766560" y="1280160"/>
            <a:ext cx="1874520" cy="640080"/>
          </a:xfrm>
          <a:prstGeom prst="rect">
            <a:avLst/>
          </a:prstGeom>
          <a:noFill/>
          <a:ln/>
        </p:spPr>
        <p:txBody>
          <a:bodyPr wrap="square" rtlCol="0" anchor="ctr"/>
          <a:lstStyle/>
          <a:p>
            <a:pPr algn="ctr" indent="0" marL="0">
              <a:buNone/>
            </a:pPr>
            <a:r>
              <a:rPr lang="en-US" sz="1600" b="1" dirty="0">
                <a:solidFill>
                  <a:srgbClr val="1B3A5C"/>
                </a:solidFill>
                <a:latin typeface="Arial Black" pitchFamily="34" charset="0"/>
                <a:ea typeface="Arial Black" pitchFamily="34" charset="-122"/>
                <a:cs typeface="Arial Black" pitchFamily="34" charset="-120"/>
              </a:rPr>
              <a:t>LOVE'S</a:t>
            </a:r>
            <a:endParaRPr lang="en-US" sz="1600" dirty="0"/>
          </a:p>
          <a:p>
            <a:pPr algn="ctr" indent="0" marL="0">
              <a:buNone/>
            </a:pPr>
            <a:r>
              <a:rPr lang="en-US" sz="1600" b="1" dirty="0">
                <a:solidFill>
                  <a:srgbClr val="1B3A5C"/>
                </a:solidFill>
                <a:latin typeface="Arial Black" pitchFamily="34" charset="0"/>
                <a:ea typeface="Arial Black" pitchFamily="34" charset="-122"/>
                <a:cs typeface="Arial Black" pitchFamily="34" charset="-120"/>
              </a:rPr>
              <a:t>TRAVEL</a:t>
            </a:r>
            <a:endParaRPr lang="en-US" sz="1600" dirty="0"/>
          </a:p>
        </p:txBody>
      </p:sp>
      <p:sp>
        <p:nvSpPr>
          <p:cNvPr id="36" name="Text 34"/>
          <p:cNvSpPr/>
          <p:nvPr/>
        </p:nvSpPr>
        <p:spPr>
          <a:xfrm>
            <a:off x="6766560" y="1956816"/>
            <a:ext cx="1874520" cy="256032"/>
          </a:xfrm>
          <a:prstGeom prst="rect">
            <a:avLst/>
          </a:prstGeom>
          <a:noFill/>
          <a:ln/>
        </p:spPr>
        <p:txBody>
          <a:bodyPr wrap="square" rtlCol="0" anchor="ctr"/>
          <a:lstStyle/>
          <a:p>
            <a:pPr algn="ctr" indent="0" marL="0">
              <a:buNone/>
            </a:pPr>
            <a:r>
              <a:rPr lang="en-US" sz="850" dirty="0">
                <a:solidFill>
                  <a:srgbClr val="7F8C9A"/>
                </a:solidFill>
                <a:latin typeface="Trebuchet MS" pitchFamily="34" charset="0"/>
                <a:ea typeface="Trebuchet MS" pitchFamily="34" charset="-122"/>
                <a:cs typeface="Trebuchet MS" pitchFamily="34" charset="-120"/>
              </a:rPr>
              <a:t>Gilliland · FRM · #34</a:t>
            </a:r>
            <a:endParaRPr lang="en-US" sz="850" dirty="0"/>
          </a:p>
        </p:txBody>
      </p:sp>
      <p:sp>
        <p:nvSpPr>
          <p:cNvPr id="37" name="Shape 35"/>
          <p:cNvSpPr/>
          <p:nvPr/>
        </p:nvSpPr>
        <p:spPr>
          <a:xfrm>
            <a:off x="6858000" y="2267712"/>
            <a:ext cx="1691640" cy="18288"/>
          </a:xfrm>
          <a:prstGeom prst="rect">
            <a:avLst/>
          </a:prstGeom>
          <a:solidFill>
            <a:srgbClr val="F4A700">
              <a:alpha val="60000"/>
            </a:srgbClr>
          </a:solidFill>
          <a:ln/>
        </p:spPr>
      </p:sp>
      <p:sp>
        <p:nvSpPr>
          <p:cNvPr id="38" name="Text 36"/>
          <p:cNvSpPr/>
          <p:nvPr/>
        </p:nvSpPr>
        <p:spPr>
          <a:xfrm>
            <a:off x="6766560" y="2359152"/>
            <a:ext cx="1874520" cy="201168"/>
          </a:xfrm>
          <a:prstGeom prst="rect">
            <a:avLst/>
          </a:prstGeom>
          <a:noFill/>
          <a:ln/>
        </p:spPr>
        <p:txBody>
          <a:bodyPr wrap="square" rtlCol="0" anchor="ctr"/>
          <a:lstStyle/>
          <a:p>
            <a:pPr algn="ctr" indent="0" marL="0">
              <a:buNone/>
            </a:pPr>
            <a:r>
              <a:rPr lang="en-US" sz="800" dirty="0">
                <a:solidFill>
                  <a:srgbClr val="7F8C9A"/>
                </a:solidFill>
                <a:latin typeface="Trebuchet MS" pitchFamily="34" charset="0"/>
                <a:ea typeface="Trebuchet MS" pitchFamily="34" charset="-122"/>
                <a:cs typeface="Trebuchet MS" pitchFamily="34" charset="-120"/>
              </a:rPr>
              <a:t>Efficiency</a:t>
            </a:r>
            <a:endParaRPr lang="en-US" sz="800" dirty="0"/>
          </a:p>
        </p:txBody>
      </p:sp>
      <p:sp>
        <p:nvSpPr>
          <p:cNvPr id="39" name="Text 37"/>
          <p:cNvSpPr/>
          <p:nvPr/>
        </p:nvSpPr>
        <p:spPr>
          <a:xfrm>
            <a:off x="6766560" y="2560320"/>
            <a:ext cx="1874520" cy="256032"/>
          </a:xfrm>
          <a:prstGeom prst="rect">
            <a:avLst/>
          </a:prstGeom>
          <a:noFill/>
          <a:ln/>
        </p:spPr>
        <p:txBody>
          <a:bodyPr wrap="square" rtlCol="0" anchor="ctr"/>
          <a:lstStyle/>
          <a:p>
            <a:pPr algn="ctr" indent="0" marL="0">
              <a:buNone/>
            </a:pPr>
            <a:r>
              <a:rPr lang="en-US" sz="1100" b="1" dirty="0">
                <a:solidFill>
                  <a:srgbClr val="1A1A2E"/>
                </a:solidFill>
                <a:latin typeface="Trebuchet MS" pitchFamily="34" charset="0"/>
                <a:ea typeface="Trebuchet MS" pitchFamily="34" charset="-122"/>
                <a:cs typeface="Trebuchet MS" pitchFamily="34" charset="-120"/>
              </a:rPr>
              <a:t>#1  ·  82 pts/$M</a:t>
            </a:r>
            <a:endParaRPr lang="en-US" sz="1100" dirty="0"/>
          </a:p>
        </p:txBody>
      </p:sp>
      <p:sp>
        <p:nvSpPr>
          <p:cNvPr id="40" name="Text 38"/>
          <p:cNvSpPr/>
          <p:nvPr/>
        </p:nvSpPr>
        <p:spPr>
          <a:xfrm>
            <a:off x="6766560" y="2907792"/>
            <a:ext cx="1874520" cy="201168"/>
          </a:xfrm>
          <a:prstGeom prst="rect">
            <a:avLst/>
          </a:prstGeom>
          <a:noFill/>
          <a:ln/>
        </p:spPr>
        <p:txBody>
          <a:bodyPr wrap="square" rtlCol="0" anchor="ctr"/>
          <a:lstStyle/>
          <a:p>
            <a:pPr algn="ctr" indent="0" marL="0">
              <a:buNone/>
            </a:pPr>
            <a:r>
              <a:rPr lang="en-US" sz="800" dirty="0">
                <a:solidFill>
                  <a:srgbClr val="7F8C9A"/>
                </a:solidFill>
                <a:latin typeface="Trebuchet MS" pitchFamily="34" charset="0"/>
                <a:ea typeface="Trebuchet MS" pitchFamily="34" charset="-122"/>
                <a:cs typeface="Trebuchet MS" pitchFamily="34" charset="-120"/>
              </a:rPr>
              <a:t>Est. Cost</a:t>
            </a:r>
            <a:endParaRPr lang="en-US" sz="800" dirty="0"/>
          </a:p>
        </p:txBody>
      </p:sp>
      <p:sp>
        <p:nvSpPr>
          <p:cNvPr id="41" name="Text 39"/>
          <p:cNvSpPr/>
          <p:nvPr/>
        </p:nvSpPr>
        <p:spPr>
          <a:xfrm>
            <a:off x="6766560" y="3108960"/>
            <a:ext cx="1874520" cy="256032"/>
          </a:xfrm>
          <a:prstGeom prst="rect">
            <a:avLst/>
          </a:prstGeom>
          <a:noFill/>
          <a:ln/>
        </p:spPr>
        <p:txBody>
          <a:bodyPr wrap="square" rtlCol="0" anchor="ctr"/>
          <a:lstStyle/>
          <a:p>
            <a:pPr algn="ctr" indent="0" marL="0">
              <a:buNone/>
            </a:pPr>
            <a:r>
              <a:rPr lang="en-US" sz="1100" b="1" dirty="0">
                <a:solidFill>
                  <a:srgbClr val="1A1A2E"/>
                </a:solidFill>
                <a:latin typeface="Trebuchet MS" pitchFamily="34" charset="0"/>
                <a:ea typeface="Trebuchet MS" pitchFamily="34" charset="-122"/>
                <a:cs typeface="Trebuchet MS" pitchFamily="34" charset="-120"/>
              </a:rPr>
              <a:t>$5.5M/year</a:t>
            </a:r>
            <a:endParaRPr lang="en-US" sz="1100" dirty="0"/>
          </a:p>
        </p:txBody>
      </p:sp>
      <p:sp>
        <p:nvSpPr>
          <p:cNvPr id="42" name="Text 40"/>
          <p:cNvSpPr/>
          <p:nvPr/>
        </p:nvSpPr>
        <p:spPr>
          <a:xfrm>
            <a:off x="6766560" y="3456432"/>
            <a:ext cx="1874520" cy="201168"/>
          </a:xfrm>
          <a:prstGeom prst="rect">
            <a:avLst/>
          </a:prstGeom>
          <a:noFill/>
          <a:ln/>
        </p:spPr>
        <p:txBody>
          <a:bodyPr wrap="square" rtlCol="0" anchor="ctr"/>
          <a:lstStyle/>
          <a:p>
            <a:pPr algn="ctr" indent="0" marL="0">
              <a:buNone/>
            </a:pPr>
            <a:r>
              <a:rPr lang="en-US" sz="800" dirty="0">
                <a:solidFill>
                  <a:srgbClr val="7F8C9A"/>
                </a:solidFill>
                <a:latin typeface="Trebuchet MS" pitchFamily="34" charset="0"/>
                <a:ea typeface="Trebuchet MS" pitchFamily="34" charset="-122"/>
                <a:cs typeface="Trebuchet MS" pitchFamily="34" charset="-120"/>
              </a:rPr>
              <a:t>Entry Point</a:t>
            </a:r>
            <a:endParaRPr lang="en-US" sz="800" dirty="0"/>
          </a:p>
        </p:txBody>
      </p:sp>
      <p:sp>
        <p:nvSpPr>
          <p:cNvPr id="43" name="Text 41"/>
          <p:cNvSpPr/>
          <p:nvPr/>
        </p:nvSpPr>
        <p:spPr>
          <a:xfrm>
            <a:off x="6766560" y="3657600"/>
            <a:ext cx="1874520" cy="256032"/>
          </a:xfrm>
          <a:prstGeom prst="rect">
            <a:avLst/>
          </a:prstGeom>
          <a:noFill/>
          <a:ln/>
        </p:spPr>
        <p:txBody>
          <a:bodyPr wrap="square" rtlCol="0" anchor="ctr"/>
          <a:lstStyle/>
          <a:p>
            <a:pPr algn="ctr" indent="0" marL="0">
              <a:buNone/>
            </a:pPr>
            <a:r>
              <a:rPr lang="en-US" sz="1100" b="1" dirty="0">
                <a:solidFill>
                  <a:srgbClr val="1A1A2E"/>
                </a:solidFill>
                <a:latin typeface="Trebuchet MS" pitchFamily="34" charset="0"/>
                <a:ea typeface="Trebuchet MS" pitchFamily="34" charset="-122"/>
                <a:cs typeface="Trebuchet MS" pitchFamily="34" charset="-120"/>
              </a:rPr>
              <a:t>Test &amp; validate</a:t>
            </a:r>
            <a:endParaRPr lang="en-US" sz="1100" dirty="0"/>
          </a:p>
        </p:txBody>
      </p:sp>
      <p:sp>
        <p:nvSpPr>
          <p:cNvPr id="44" name="Text 42"/>
          <p:cNvSpPr/>
          <p:nvPr/>
        </p:nvSpPr>
        <p:spPr>
          <a:xfrm>
            <a:off x="6766560" y="3840480"/>
            <a:ext cx="1874520" cy="384048"/>
          </a:xfrm>
          <a:prstGeom prst="rect">
            <a:avLst/>
          </a:prstGeom>
          <a:noFill/>
          <a:ln/>
        </p:spPr>
        <p:txBody>
          <a:bodyPr wrap="square" rtlCol="0" anchor="ctr"/>
          <a:lstStyle/>
          <a:p>
            <a:pPr algn="ctr" indent="0" marL="0">
              <a:buNone/>
            </a:pPr>
            <a:r>
              <a:rPr lang="en-US" sz="900" i="1" dirty="0">
                <a:solidFill>
                  <a:srgbClr val="8B5E00"/>
                </a:solidFill>
                <a:latin typeface="Trebuchet MS" pitchFamily="34" charset="0"/>
                <a:ea typeface="Trebuchet MS" pitchFamily="34" charset="-122"/>
                <a:cs typeface="Trebuchet MS" pitchFamily="34" charset="-120"/>
              </a:rPr>
              <a:t>Best if budget is</a:t>
            </a:r>
            <a:endParaRPr lang="en-US" sz="900" dirty="0"/>
          </a:p>
          <a:p>
            <a:pPr algn="ctr" indent="0" marL="0">
              <a:buNone/>
            </a:pPr>
            <a:r>
              <a:rPr lang="en-US" sz="900" i="1" dirty="0">
                <a:solidFill>
                  <a:srgbClr val="8B5E00"/>
                </a:solidFill>
                <a:latin typeface="Trebuchet MS" pitchFamily="34" charset="0"/>
                <a:ea typeface="Trebuchet MS" pitchFamily="34" charset="-122"/>
                <a:cs typeface="Trebuchet MS" pitchFamily="34" charset="-120"/>
              </a:rPr>
              <a:t>the binding constraint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rtlCol="0" anchor="ctr"/>
          <a:lstStyle/>
          <a:p>
            <a:pPr indent="0" marL="0">
              <a:buNone/>
            </a:pPr>
            <a:r>
              <a:rPr lang="en-US" sz="1600" b="1" dirty="0">
                <a:solidFill>
                  <a:srgbClr val="1B3A5C"/>
                </a:solidFill>
                <a:latin typeface="Arial" pitchFamily="34" charset="0"/>
                <a:ea typeface="Arial" pitchFamily="34" charset="-122"/>
                <a:cs typeface="Arial" pitchFamily="34" charset="-120"/>
              </a:rPr>
              <a:t>The Decision Is Strategic, Not Mathematical — Here Are the Three Paths and What Each Costs</a:t>
            </a:r>
            <a:endParaRPr lang="en-US" sz="1600" dirty="0"/>
          </a:p>
        </p:txBody>
      </p:sp>
      <p:sp>
        <p:nvSpPr>
          <p:cNvPr id="3" name="Shape 1"/>
          <p:cNvSpPr/>
          <p:nvPr/>
        </p:nvSpPr>
        <p:spPr>
          <a:xfrm>
            <a:off x="411480" y="731520"/>
            <a:ext cx="8321040" cy="22860"/>
          </a:xfrm>
          <a:prstGeom prst="rect">
            <a:avLst/>
          </a:prstGeom>
          <a:solidFill>
            <a:srgbClr val="26A69A"/>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841248"/>
          <a:ext cx="8321040" cy="2743200"/>
        </p:xfrm>
        <a:graphic>
          <a:graphicData uri="http://schemas.openxmlformats.org/drawingml/2006/table">
            <a:tbl>
              <a:tblPr/>
              <a:tblGrid>
                <a:gridCol w="1280160"/>
                <a:gridCol w="2340864"/>
                <a:gridCol w="2340864"/>
                <a:gridCol w="2359152"/>
              </a:tblGrid>
              <a:tr h="457200">
                <a:tc>
                  <a:txBody>
                    <a:bodyPr/>
                    <a:lstStyle/>
                    <a:p>
                      <a:pPr indent="0" marL="0">
                        <a:buNone/>
                      </a:pP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0F4F8"/>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Scenario A</a:t>
                      </a:r>
                      <a:endParaRPr lang="en-US" sz="1000" dirty="0">
                        <a:latin typeface="Trebuchet MS" charset="0"/>
                        <a:ea typeface="Trebuchet MS" charset="0"/>
                        <a:cs typeface="Trebuchet MS" charset="0"/>
                      </a:endParaRPr>
                    </a:p>
                    <a:p>
                      <a:pPr indent="0" marL="0">
                        <a:buNone/>
                      </a:pPr>
                      <a:r>
                        <a:rPr lang="en-US" sz="1000" b="1" dirty="0">
                          <a:solidFill>
                            <a:srgbClr val="FFFFFF"/>
                          </a:solidFill>
                          <a:latin typeface="Trebuchet MS" pitchFamily="34" charset="0"/>
                          <a:ea typeface="Trebuchet MS" pitchFamily="34" charset="-122"/>
                          <a:cs typeface="Trebuchet MS" pitchFamily="34" charset="-120"/>
                        </a:rPr>
                        <a:t>Max Visibility</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1B3A5C"/>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Scenario B</a:t>
                      </a:r>
                      <a:endParaRPr lang="en-US" sz="1000" dirty="0">
                        <a:latin typeface="Trebuchet MS" charset="0"/>
                        <a:ea typeface="Trebuchet MS" charset="0"/>
                        <a:cs typeface="Trebuchet MS" charset="0"/>
                      </a:endParaRPr>
                    </a:p>
                    <a:p>
                      <a:pPr indent="0" marL="0">
                        <a:buNone/>
                      </a:pPr>
                      <a:r>
                        <a:rPr lang="en-US" sz="1000" b="1" dirty="0">
                          <a:solidFill>
                            <a:srgbClr val="FFFFFF"/>
                          </a:solidFill>
                          <a:latin typeface="Trebuchet MS" pitchFamily="34" charset="0"/>
                          <a:ea typeface="Trebuchet MS" pitchFamily="34" charset="-122"/>
                          <a:cs typeface="Trebuchet MS" pitchFamily="34" charset="-120"/>
                        </a:rPr>
                        <a:t>Max Efficiency</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1B3A5C"/>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Scenario C  ✓</a:t>
                      </a:r>
                      <a:endParaRPr lang="en-US" sz="1000" dirty="0">
                        <a:latin typeface="Trebuchet MS" charset="0"/>
                        <a:ea typeface="Trebuchet MS" charset="0"/>
                        <a:cs typeface="Trebuchet MS" charset="0"/>
                      </a:endParaRPr>
                    </a:p>
                    <a:p>
                      <a:pPr indent="0" marL="0">
                        <a:buNone/>
                      </a:pPr>
                      <a:r>
                        <a:rPr lang="en-US" sz="1000" b="1" dirty="0">
                          <a:solidFill>
                            <a:srgbClr val="FFFFFF"/>
                          </a:solidFill>
                          <a:latin typeface="Trebuchet MS" pitchFamily="34" charset="0"/>
                          <a:ea typeface="Trebuchet MS" pitchFamily="34" charset="-122"/>
                          <a:cs typeface="Trebuchet MS" pitchFamily="34" charset="-120"/>
                        </a:rPr>
                        <a:t>Balanced</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26A69A"/>
                    </a:solidFill>
                  </a:tcPr>
                </a:tc>
              </a:tr>
              <a:tr h="457200">
                <a:tc>
                  <a:txBody>
                    <a:bodyPr/>
                    <a:lstStyle/>
                    <a:p>
                      <a:pPr indent="0" marL="0">
                        <a:buNone/>
                      </a:pPr>
                      <a:r>
                        <a:rPr lang="en-US" sz="1000" b="1" dirty="0">
                          <a:solidFill>
                            <a:srgbClr val="7F8C9A"/>
                          </a:solidFill>
                          <a:latin typeface="Trebuchet MS" pitchFamily="34" charset="0"/>
                          <a:ea typeface="Trebuchet MS" pitchFamily="34" charset="-122"/>
                          <a:cs typeface="Trebuchet MS" pitchFamily="34" charset="-120"/>
                        </a:rPr>
                        <a:t>Sponsor</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8FAFB"/>
                    </a:solidFill>
                  </a:tcPr>
                </a:tc>
                <a:tc>
                  <a:txBody>
                    <a:bodyPr/>
                    <a:lstStyle/>
                    <a:p>
                      <a:pPr indent="0" marL="0">
                        <a:buNone/>
                      </a:pPr>
                      <a:r>
                        <a:rPr lang="en-US" sz="1000" b="1" dirty="0">
                          <a:solidFill>
                            <a:srgbClr val="1A1A2E"/>
                          </a:solidFill>
                          <a:latin typeface="Trebuchet MS" pitchFamily="34" charset="0"/>
                          <a:ea typeface="Trebuchet MS" pitchFamily="34" charset="-122"/>
                          <a:cs typeface="Trebuchet MS" pitchFamily="34" charset="-120"/>
                        </a:rPr>
                        <a:t>NAPA Auto Parts</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b="1" dirty="0">
                          <a:solidFill>
                            <a:srgbClr val="1A1A2E"/>
                          </a:solidFill>
                          <a:latin typeface="Trebuchet MS" pitchFamily="34" charset="0"/>
                          <a:ea typeface="Trebuchet MS" pitchFamily="34" charset="-122"/>
                          <a:cs typeface="Trebuchet MS" pitchFamily="34" charset="-120"/>
                        </a:rPr>
                        <a:t>Love's Travel Stops</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b="1" dirty="0">
                          <a:solidFill>
                            <a:srgbClr val="1A1A2E"/>
                          </a:solidFill>
                          <a:latin typeface="Trebuchet MS" pitchFamily="34" charset="0"/>
                          <a:ea typeface="Trebuchet MS" pitchFamily="34" charset="-122"/>
                          <a:cs typeface="Trebuchet MS" pitchFamily="34" charset="-120"/>
                        </a:rPr>
                        <a:t>Monster Energy</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EFF9F8"/>
                    </a:solidFill>
                  </a:tcPr>
                </a:tc>
              </a:tr>
              <a:tr h="457200">
                <a:tc>
                  <a:txBody>
                    <a:bodyPr/>
                    <a:lstStyle/>
                    <a:p>
                      <a:pPr indent="0" marL="0">
                        <a:buNone/>
                      </a:pPr>
                      <a:r>
                        <a:rPr lang="en-US" sz="1000" b="1" dirty="0">
                          <a:solidFill>
                            <a:srgbClr val="7F8C9A"/>
                          </a:solidFill>
                          <a:latin typeface="Trebuchet MS" pitchFamily="34" charset="0"/>
                          <a:ea typeface="Trebuchet MS" pitchFamily="34" charset="-122"/>
                          <a:cs typeface="Trebuchet MS" pitchFamily="34" charset="-120"/>
                        </a:rPr>
                        <a:t>Visibility</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8FAFB"/>
                    </a:solidFill>
                  </a:tcPr>
                </a:tc>
                <a:tc>
                  <a:txBody>
                    <a:bodyPr/>
                    <a:lstStyle/>
                    <a:p>
                      <a:pPr indent="0" marL="0">
                        <a:buNone/>
                      </a:pPr>
                      <a:r>
                        <a:rPr lang="en-US" sz="1000" dirty="0">
                          <a:solidFill>
                            <a:srgbClr val="1A1A2E"/>
                          </a:solidFill>
                          <a:latin typeface="Trebuchet MS" pitchFamily="34" charset="0"/>
                          <a:ea typeface="Trebuchet MS" pitchFamily="34" charset="-122"/>
                          <a:cs typeface="Trebuchet MS" pitchFamily="34" charset="-120"/>
                        </a:rPr>
                        <a:t>1,363 pts  (100%)</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Trebuchet MS" pitchFamily="34" charset="0"/>
                          <a:ea typeface="Trebuchet MS" pitchFamily="34" charset="-122"/>
                          <a:cs typeface="Trebuchet MS" pitchFamily="34" charset="-120"/>
                        </a:rPr>
                        <a:t>451 pts  (33%)</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dirty="0">
                          <a:solidFill>
                            <a:srgbClr val="1B3A5C"/>
                          </a:solidFill>
                          <a:latin typeface="Trebuchet MS" pitchFamily="34" charset="0"/>
                          <a:ea typeface="Trebuchet MS" pitchFamily="34" charset="-122"/>
                          <a:cs typeface="Trebuchet MS" pitchFamily="34" charset="-120"/>
                        </a:rPr>
                        <a:t>1,343 pts  (98.5%)</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EFF9F8"/>
                    </a:solidFill>
                  </a:tcPr>
                </a:tc>
              </a:tr>
              <a:tr h="457200">
                <a:tc>
                  <a:txBody>
                    <a:bodyPr/>
                    <a:lstStyle/>
                    <a:p>
                      <a:pPr indent="0" marL="0">
                        <a:buNone/>
                      </a:pPr>
                      <a:r>
                        <a:rPr lang="en-US" sz="1000" b="1" dirty="0">
                          <a:solidFill>
                            <a:srgbClr val="7F8C9A"/>
                          </a:solidFill>
                          <a:latin typeface="Trebuchet MS" pitchFamily="34" charset="0"/>
                          <a:ea typeface="Trebuchet MS" pitchFamily="34" charset="-122"/>
                          <a:cs typeface="Trebuchet MS" pitchFamily="34" charset="-120"/>
                        </a:rPr>
                        <a:t>Efficiency</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8FAFB"/>
                    </a:solidFill>
                  </a:tcPr>
                </a:tc>
                <a:tc>
                  <a:txBody>
                    <a:bodyPr/>
                    <a:lstStyle/>
                    <a:p>
                      <a:pPr indent="0" marL="0">
                        <a:buNone/>
                      </a:pPr>
                      <a:r>
                        <a:rPr lang="en-US" sz="1000" dirty="0">
                          <a:solidFill>
                            <a:srgbClr val="1A1A2E"/>
                          </a:solidFill>
                          <a:latin typeface="Trebuchet MS" pitchFamily="34" charset="0"/>
                          <a:ea typeface="Trebuchet MS" pitchFamily="34" charset="-122"/>
                          <a:cs typeface="Trebuchet MS" pitchFamily="34" charset="-120"/>
                        </a:rPr>
                        <a:t>62.0 pts/$M  (76%)</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Trebuchet MS" pitchFamily="34" charset="0"/>
                          <a:ea typeface="Trebuchet MS" pitchFamily="34" charset="-122"/>
                          <a:cs typeface="Trebuchet MS" pitchFamily="34" charset="-120"/>
                        </a:rPr>
                        <a:t>82.0 pts/$M  (100%)</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dirty="0">
                          <a:solidFill>
                            <a:srgbClr val="1B3A5C"/>
                          </a:solidFill>
                          <a:latin typeface="Trebuchet MS" pitchFamily="34" charset="0"/>
                          <a:ea typeface="Trebuchet MS" pitchFamily="34" charset="-122"/>
                          <a:cs typeface="Trebuchet MS" pitchFamily="34" charset="-120"/>
                        </a:rPr>
                        <a:t>76.8 pts/$M  (94%)</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EFF9F8"/>
                    </a:solidFill>
                  </a:tcPr>
                </a:tc>
              </a:tr>
              <a:tr h="457200">
                <a:tc>
                  <a:txBody>
                    <a:bodyPr/>
                    <a:lstStyle/>
                    <a:p>
                      <a:pPr indent="0" marL="0">
                        <a:buNone/>
                      </a:pPr>
                      <a:r>
                        <a:rPr lang="en-US" sz="1000" b="1" dirty="0">
                          <a:solidFill>
                            <a:srgbClr val="7F8C9A"/>
                          </a:solidFill>
                          <a:latin typeface="Trebuchet MS" pitchFamily="34" charset="0"/>
                          <a:ea typeface="Trebuchet MS" pitchFamily="34" charset="-122"/>
                          <a:cs typeface="Trebuchet MS" pitchFamily="34" charset="-120"/>
                        </a:rPr>
                        <a:t>Est. Cost</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8FAFB"/>
                    </a:solidFill>
                  </a:tcPr>
                </a:tc>
                <a:tc>
                  <a:txBody>
                    <a:bodyPr/>
                    <a:lstStyle/>
                    <a:p>
                      <a:pPr indent="0" marL="0">
                        <a:buNone/>
                      </a:pPr>
                      <a:r>
                        <a:rPr lang="en-US" sz="1000" dirty="0">
                          <a:solidFill>
                            <a:srgbClr val="1A1A2E"/>
                          </a:solidFill>
                          <a:latin typeface="Trebuchet MS" pitchFamily="34" charset="0"/>
                          <a:ea typeface="Trebuchet MS" pitchFamily="34" charset="-122"/>
                          <a:cs typeface="Trebuchet MS" pitchFamily="34" charset="-120"/>
                        </a:rPr>
                        <a:t>$22M / year</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Trebuchet MS" pitchFamily="34" charset="0"/>
                          <a:ea typeface="Trebuchet MS" pitchFamily="34" charset="-122"/>
                          <a:cs typeface="Trebuchet MS" pitchFamily="34" charset="-120"/>
                        </a:rPr>
                        <a:t>$5.5M / year</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dirty="0">
                          <a:solidFill>
                            <a:srgbClr val="1B3A5C"/>
                          </a:solidFill>
                          <a:latin typeface="Trebuchet MS" pitchFamily="34" charset="0"/>
                          <a:ea typeface="Trebuchet MS" pitchFamily="34" charset="-122"/>
                          <a:cs typeface="Trebuchet MS" pitchFamily="34" charset="-120"/>
                        </a:rPr>
                        <a:t>$17.5M / year</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EFF9F8"/>
                    </a:solidFill>
                  </a:tcPr>
                </a:tc>
              </a:tr>
              <a:tr h="457200">
                <a:tc>
                  <a:txBody>
                    <a:bodyPr/>
                    <a:lstStyle/>
                    <a:p>
                      <a:pPr indent="0" marL="0">
                        <a:buNone/>
                      </a:pPr>
                      <a:r>
                        <a:rPr lang="en-US" sz="1000" b="1" dirty="0">
                          <a:solidFill>
                            <a:srgbClr val="7F8C9A"/>
                          </a:solidFill>
                          <a:latin typeface="Trebuchet MS" pitchFamily="34" charset="0"/>
                          <a:ea typeface="Trebuchet MS" pitchFamily="34" charset="-122"/>
                          <a:cs typeface="Trebuchet MS" pitchFamily="34" charset="-120"/>
                        </a:rPr>
                        <a:t>Best For</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8FAFB"/>
                    </a:solidFill>
                  </a:tcPr>
                </a:tc>
                <a:tc>
                  <a:txBody>
                    <a:bodyPr/>
                    <a:lstStyle/>
                    <a:p>
                      <a:pPr indent="0" marL="0">
                        <a:buNone/>
                      </a:pPr>
                      <a:r>
                        <a:rPr lang="en-US" sz="1000" dirty="0">
                          <a:solidFill>
                            <a:srgbClr val="1A1A2E"/>
                          </a:solidFill>
                          <a:latin typeface="Trebuchet MS" pitchFamily="34" charset="0"/>
                          <a:ea typeface="Trebuchet MS" pitchFamily="34" charset="-122"/>
                          <a:cs typeface="Trebuchet MS" pitchFamily="34" charset="-120"/>
                        </a:rPr>
                        <a:t>CMO / brand growth</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Trebuchet MS" pitchFamily="34" charset="0"/>
                          <a:ea typeface="Trebuchet MS" pitchFamily="34" charset="-122"/>
                          <a:cs typeface="Trebuchet MS" pitchFamily="34" charset="-120"/>
                        </a:rPr>
                        <a:t>CFO / ROI mandate</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FFFFFF"/>
                    </a:solidFill>
                  </a:tcPr>
                </a:tc>
                <a:tc>
                  <a:txBody>
                    <a:bodyPr/>
                    <a:lstStyle/>
                    <a:p>
                      <a:pPr indent="0" marL="0">
                        <a:buNone/>
                      </a:pPr>
                      <a:r>
                        <a:rPr lang="en-US" sz="1000" dirty="0">
                          <a:solidFill>
                            <a:srgbClr val="26A69A"/>
                          </a:solidFill>
                          <a:latin typeface="Trebuchet MS" pitchFamily="34" charset="0"/>
                          <a:ea typeface="Trebuchet MS" pitchFamily="34" charset="-122"/>
                          <a:cs typeface="Trebuchet MS" pitchFamily="34" charset="-120"/>
                        </a:rPr>
                        <a:t>Board consensus</a:t>
                      </a:r>
                      <a:endParaRPr lang="en-US" sz="1000" dirty="0">
                        <a:latin typeface="Trebuchet MS" charset="0"/>
                        <a:ea typeface="Trebuchet MS" charset="0"/>
                        <a:cs typeface="Trebuchet MS" charset="0"/>
                      </a:endParaRPr>
                    </a:p>
                  </a:txBody>
                  <a:tcPr marL="91440" marR="91440" marT="45720" marB="45720">
                    <a:lnL w="6350" cap="flat" cmpd="sng" algn="ctr">
                      <a:solidFill>
                        <a:srgbClr val="D0DAE8"/>
                      </a:solidFill>
                      <a:prstDash val="solid"/>
                      <a:round/>
                      <a:headEnd type="none" w="med" len="med"/>
                      <a:tailEnd type="none" w="med" len="med"/>
                    </a:lnL>
                    <a:lnR w="6350" cap="flat" cmpd="sng" algn="ctr">
                      <a:solidFill>
                        <a:srgbClr val="D0DAE8"/>
                      </a:solidFill>
                      <a:prstDash val="solid"/>
                      <a:round/>
                      <a:headEnd type="none" w="med" len="med"/>
                      <a:tailEnd type="none" w="med" len="med"/>
                    </a:lnR>
                    <a:lnT w="6350" cap="flat" cmpd="sng" algn="ctr">
                      <a:solidFill>
                        <a:srgbClr val="D0DAE8"/>
                      </a:solidFill>
                      <a:prstDash val="solid"/>
                      <a:round/>
                      <a:headEnd type="none" w="med" len="med"/>
                      <a:tailEnd type="none" w="med" len="med"/>
                    </a:lnT>
                    <a:lnB w="6350" cap="flat" cmpd="sng" algn="ctr">
                      <a:solidFill>
                        <a:srgbClr val="D0DAE8"/>
                      </a:solidFill>
                      <a:prstDash val="solid"/>
                      <a:round/>
                      <a:headEnd type="none" w="med" len="med"/>
                      <a:tailEnd type="none" w="med" len="med"/>
                    </a:lnB>
                    <a:solidFill>
                      <a:srgbClr val="EFF9F8"/>
                    </a:solidFill>
                  </a:tcPr>
                </a:tc>
              </a:tr>
            </a:tbl>
          </a:graphicData>
        </a:graphic>
      </p:graphicFrame>
      <p:sp>
        <p:nvSpPr>
          <p:cNvPr id="5" name="Shape 2"/>
          <p:cNvSpPr/>
          <p:nvPr/>
        </p:nvSpPr>
        <p:spPr>
          <a:xfrm>
            <a:off x="411480" y="3712464"/>
            <a:ext cx="2697480" cy="475488"/>
          </a:xfrm>
          <a:prstGeom prst="roundRect">
            <a:avLst>
              <a:gd name="adj" fmla="val 15385"/>
            </a:avLst>
          </a:prstGeom>
          <a:solidFill>
            <a:srgbClr val="EFF4FA"/>
          </a:solidFill>
          <a:ln w="19050">
            <a:solidFill>
              <a:srgbClr val="26A69A"/>
            </a:solidFill>
            <a:prstDash val="solid"/>
          </a:ln>
        </p:spPr>
      </p:sp>
      <p:sp>
        <p:nvSpPr>
          <p:cNvPr id="6" name="Text 3"/>
          <p:cNvSpPr/>
          <p:nvPr/>
        </p:nvSpPr>
        <p:spPr>
          <a:xfrm>
            <a:off x="484632" y="3712464"/>
            <a:ext cx="2551176" cy="475488"/>
          </a:xfrm>
          <a:prstGeom prst="rect">
            <a:avLst/>
          </a:prstGeom>
          <a:noFill/>
          <a:ln/>
        </p:spPr>
        <p:txBody>
          <a:bodyPr wrap="square" rtlCol="0" anchor="ctr"/>
          <a:lstStyle/>
          <a:p>
            <a:pPr indent="0" marL="0">
              <a:buNone/>
            </a:pPr>
            <a:r>
              <a:rPr lang="en-US" sz="950" b="1" dirty="0">
                <a:solidFill>
                  <a:srgbClr val="1B3A5C"/>
                </a:solidFill>
                <a:latin typeface="Trebuchet MS" pitchFamily="34" charset="0"/>
                <a:ea typeface="Trebuchet MS" pitchFamily="34" charset="-122"/>
                <a:cs typeface="Trebuchet MS" pitchFamily="34" charset="-120"/>
              </a:rPr>
              <a:t xml:space="preserve">If Budget flexible  </a:t>
            </a:r>
            <a:pPr indent="0" marL="0">
              <a:buNone/>
            </a:pPr>
            <a:r>
              <a:rPr lang="en-US" sz="950" b="1" dirty="0">
                <a:solidFill>
                  <a:srgbClr val="26A69A"/>
                </a:solidFill>
                <a:latin typeface="Trebuchet MS" pitchFamily="34" charset="0"/>
                <a:ea typeface="Trebuchet MS" pitchFamily="34" charset="-122"/>
                <a:cs typeface="Trebuchet MS" pitchFamily="34" charset="-120"/>
              </a:rPr>
              <a:t>→ Scenario C (Monster Energy)</a:t>
            </a:r>
            <a:endParaRPr lang="en-US" sz="950" dirty="0"/>
          </a:p>
        </p:txBody>
      </p:sp>
      <p:sp>
        <p:nvSpPr>
          <p:cNvPr id="7" name="Shape 4"/>
          <p:cNvSpPr/>
          <p:nvPr/>
        </p:nvSpPr>
        <p:spPr>
          <a:xfrm>
            <a:off x="3227832" y="3712464"/>
            <a:ext cx="2697480" cy="475488"/>
          </a:xfrm>
          <a:prstGeom prst="roundRect">
            <a:avLst>
              <a:gd name="adj" fmla="val 15385"/>
            </a:avLst>
          </a:prstGeom>
          <a:solidFill>
            <a:srgbClr val="EFF4FA"/>
          </a:solidFill>
          <a:ln w="19050">
            <a:solidFill>
              <a:srgbClr val="2E6EA6"/>
            </a:solidFill>
            <a:prstDash val="solid"/>
          </a:ln>
        </p:spPr>
      </p:sp>
      <p:sp>
        <p:nvSpPr>
          <p:cNvPr id="8" name="Text 5"/>
          <p:cNvSpPr/>
          <p:nvPr/>
        </p:nvSpPr>
        <p:spPr>
          <a:xfrm>
            <a:off x="3300984" y="3712464"/>
            <a:ext cx="2551176" cy="475488"/>
          </a:xfrm>
          <a:prstGeom prst="rect">
            <a:avLst/>
          </a:prstGeom>
          <a:noFill/>
          <a:ln/>
        </p:spPr>
        <p:txBody>
          <a:bodyPr wrap="square" rtlCol="0" anchor="ctr"/>
          <a:lstStyle/>
          <a:p>
            <a:pPr indent="0" marL="0">
              <a:buNone/>
            </a:pPr>
            <a:r>
              <a:rPr lang="en-US" sz="950" b="1" dirty="0">
                <a:solidFill>
                  <a:srgbClr val="1B3A5C"/>
                </a:solidFill>
                <a:latin typeface="Trebuchet MS" pitchFamily="34" charset="0"/>
                <a:ea typeface="Trebuchet MS" pitchFamily="34" charset="-122"/>
                <a:cs typeface="Trebuchet MS" pitchFamily="34" charset="-120"/>
              </a:rPr>
              <a:t xml:space="preserve">If Budget capped ~$12M  </a:t>
            </a:r>
            <a:pPr indent="0" marL="0">
              <a:buNone/>
            </a:pPr>
            <a:r>
              <a:rPr lang="en-US" sz="950" b="1" dirty="0">
                <a:solidFill>
                  <a:srgbClr val="2E6EA6"/>
                </a:solidFill>
                <a:latin typeface="Trebuchet MS" pitchFamily="34" charset="0"/>
                <a:ea typeface="Trebuchet MS" pitchFamily="34" charset="-122"/>
                <a:cs typeface="Trebuchet MS" pitchFamily="34" charset="-120"/>
              </a:rPr>
              <a:t>→ Scenario B (Fastenal)</a:t>
            </a:r>
            <a:endParaRPr lang="en-US" sz="950" dirty="0"/>
          </a:p>
        </p:txBody>
      </p:sp>
      <p:sp>
        <p:nvSpPr>
          <p:cNvPr id="9" name="Shape 6"/>
          <p:cNvSpPr/>
          <p:nvPr/>
        </p:nvSpPr>
        <p:spPr>
          <a:xfrm>
            <a:off x="6044184" y="3712464"/>
            <a:ext cx="2697480" cy="475488"/>
          </a:xfrm>
          <a:prstGeom prst="roundRect">
            <a:avLst>
              <a:gd name="adj" fmla="val 15385"/>
            </a:avLst>
          </a:prstGeom>
          <a:solidFill>
            <a:srgbClr val="EFF4FA"/>
          </a:solidFill>
          <a:ln w="19050">
            <a:solidFill>
              <a:srgbClr val="2E6EA6"/>
            </a:solidFill>
            <a:prstDash val="solid"/>
          </a:ln>
        </p:spPr>
      </p:sp>
      <p:sp>
        <p:nvSpPr>
          <p:cNvPr id="10" name="Text 7"/>
          <p:cNvSpPr/>
          <p:nvPr/>
        </p:nvSpPr>
        <p:spPr>
          <a:xfrm>
            <a:off x="6117336" y="3712464"/>
            <a:ext cx="2551176" cy="475488"/>
          </a:xfrm>
          <a:prstGeom prst="rect">
            <a:avLst/>
          </a:prstGeom>
          <a:noFill/>
          <a:ln/>
        </p:spPr>
        <p:txBody>
          <a:bodyPr wrap="square" rtlCol="0" anchor="ctr"/>
          <a:lstStyle/>
          <a:p>
            <a:pPr indent="0" marL="0">
              <a:buNone/>
            </a:pPr>
            <a:r>
              <a:rPr lang="en-US" sz="950" b="1" dirty="0">
                <a:solidFill>
                  <a:srgbClr val="1B3A5C"/>
                </a:solidFill>
                <a:latin typeface="Trebuchet MS" pitchFamily="34" charset="0"/>
                <a:ea typeface="Trebuchet MS" pitchFamily="34" charset="-122"/>
                <a:cs typeface="Trebuchet MS" pitchFamily="34" charset="-120"/>
              </a:rPr>
              <a:t xml:space="preserve">If ROI is the mandate  </a:t>
            </a:r>
            <a:pPr indent="0" marL="0">
              <a:buNone/>
            </a:pPr>
            <a:r>
              <a:rPr lang="en-US" sz="950" b="1" dirty="0">
                <a:solidFill>
                  <a:srgbClr val="2E6EA6"/>
                </a:solidFill>
                <a:latin typeface="Trebuchet MS" pitchFamily="34" charset="0"/>
                <a:ea typeface="Trebuchet MS" pitchFamily="34" charset="-122"/>
                <a:cs typeface="Trebuchet MS" pitchFamily="34" charset="-120"/>
              </a:rPr>
              <a:t>→ Scenario B (Fastenal)</a:t>
            </a:r>
            <a:endParaRPr lang="en-US" sz="950" dirty="0"/>
          </a:p>
        </p:txBody>
      </p:sp>
      <p:sp>
        <p:nvSpPr>
          <p:cNvPr id="11" name="Shape 8"/>
          <p:cNvSpPr/>
          <p:nvPr/>
        </p:nvSpPr>
        <p:spPr>
          <a:xfrm>
            <a:off x="0" y="4352544"/>
            <a:ext cx="9144000" cy="790956"/>
          </a:xfrm>
          <a:prstGeom prst="rect">
            <a:avLst/>
          </a:prstGeom>
          <a:solidFill>
            <a:srgbClr val="1B3A5C"/>
          </a:solidFill>
          <a:ln/>
        </p:spPr>
      </p:sp>
      <p:sp>
        <p:nvSpPr>
          <p:cNvPr id="12" name="Text 9"/>
          <p:cNvSpPr/>
          <p:nvPr/>
        </p:nvSpPr>
        <p:spPr>
          <a:xfrm>
            <a:off x="411480" y="4389120"/>
            <a:ext cx="8321040" cy="502920"/>
          </a:xfrm>
          <a:prstGeom prst="rect">
            <a:avLst/>
          </a:prstGeom>
          <a:noFill/>
          <a:ln/>
        </p:spPr>
        <p:txBody>
          <a:bodyPr wrap="square" rtlCol="0" anchor="ctr"/>
          <a:lstStyle/>
          <a:p>
            <a:pPr algn="ctr" indent="0" marL="0">
              <a:buNone/>
            </a:pPr>
            <a:r>
              <a:rPr lang="en-US" sz="1100" b="1" i="1" dirty="0">
                <a:solidFill>
                  <a:srgbClr val="FFFFFF"/>
                </a:solidFill>
                <a:latin typeface="Trebuchet MS" pitchFamily="34" charset="0"/>
                <a:ea typeface="Trebuchet MS" pitchFamily="34" charset="-122"/>
                <a:cs typeface="Trebuchet MS" pitchFamily="34" charset="-120"/>
              </a:rPr>
              <a:t>Scenario C delivers 98.5% of maximum visibility at 94% of peak efficiency — the only scenario that wins every stakeholder conversation.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6858000" y="2286000"/>
            <a:ext cx="4114800" cy="4114800"/>
          </a:xfrm>
          <a:prstGeom prst="ellipse">
            <a:avLst/>
          </a:prstGeom>
          <a:solidFill>
            <a:srgbClr val="2E6EA6">
              <a:alpha val="12000"/>
            </a:srgbClr>
          </a:solidFill>
          <a:ln/>
        </p:spPr>
      </p:sp>
      <p:sp>
        <p:nvSpPr>
          <p:cNvPr id="3" name="Shape 1"/>
          <p:cNvSpPr/>
          <p:nvPr/>
        </p:nvSpPr>
        <p:spPr>
          <a:xfrm>
            <a:off x="-1371600" y="-914400"/>
            <a:ext cx="3657600" cy="3657600"/>
          </a:xfrm>
          <a:prstGeom prst="ellipse">
            <a:avLst/>
          </a:prstGeom>
          <a:solidFill>
            <a:srgbClr val="26A69A">
              <a:alpha val="10000"/>
            </a:srgbClr>
          </a:solidFill>
          <a:ln/>
        </p:spPr>
      </p:sp>
      <p:sp>
        <p:nvSpPr>
          <p:cNvPr id="4" name="Text 2"/>
          <p:cNvSpPr/>
          <p:nvPr/>
        </p:nvSpPr>
        <p:spPr>
          <a:xfrm>
            <a:off x="411480" y="164592"/>
            <a:ext cx="8321040" cy="5486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Three Actions Before Any Negotiation Begins</a:t>
            </a:r>
            <a:endParaRPr lang="en-US" sz="1600" dirty="0"/>
          </a:p>
        </p:txBody>
      </p:sp>
      <p:sp>
        <p:nvSpPr>
          <p:cNvPr id="5" name="Shape 3"/>
          <p:cNvSpPr/>
          <p:nvPr/>
        </p:nvSpPr>
        <p:spPr>
          <a:xfrm>
            <a:off x="411480" y="731520"/>
            <a:ext cx="8321040" cy="22860"/>
          </a:xfrm>
          <a:prstGeom prst="rect">
            <a:avLst/>
          </a:prstGeom>
          <a:solidFill>
            <a:srgbClr val="26A69A"/>
          </a:solidFill>
          <a:ln/>
        </p:spPr>
      </p:sp>
      <p:sp>
        <p:nvSpPr>
          <p:cNvPr id="6" name="Shape 4"/>
          <p:cNvSpPr/>
          <p:nvPr/>
        </p:nvSpPr>
        <p:spPr>
          <a:xfrm>
            <a:off x="411480" y="914400"/>
            <a:ext cx="530352" cy="530352"/>
          </a:xfrm>
          <a:prstGeom prst="ellipse">
            <a:avLst/>
          </a:prstGeom>
          <a:solidFill>
            <a:srgbClr val="F4A700"/>
          </a:solidFill>
          <a:ln/>
        </p:spPr>
      </p:sp>
      <p:sp>
        <p:nvSpPr>
          <p:cNvPr id="7" name="Text 5"/>
          <p:cNvSpPr/>
          <p:nvPr/>
        </p:nvSpPr>
        <p:spPr>
          <a:xfrm>
            <a:off x="411480" y="914400"/>
            <a:ext cx="530352" cy="530352"/>
          </a:xfrm>
          <a:prstGeom prst="rect">
            <a:avLst/>
          </a:prstGeom>
          <a:noFill/>
          <a:ln/>
        </p:spPr>
        <p:txBody>
          <a:bodyPr wrap="square" rtlCol="0" anchor="ctr"/>
          <a:lstStyle/>
          <a:p>
            <a:pPr algn="ctr" indent="0" marL="0">
              <a:buNone/>
            </a:pPr>
            <a:r>
              <a:rPr lang="en-US" sz="1800" b="1" dirty="0">
                <a:solidFill>
                  <a:srgbClr val="1B3A5C"/>
                </a:solidFill>
                <a:latin typeface="Arial Black" pitchFamily="34" charset="0"/>
                <a:ea typeface="Arial Black" pitchFamily="34" charset="-122"/>
                <a:cs typeface="Arial Black" pitchFamily="34" charset="-120"/>
              </a:rPr>
              <a:t>1</a:t>
            </a:r>
            <a:endParaRPr lang="en-US" sz="1800" dirty="0"/>
          </a:p>
        </p:txBody>
      </p:sp>
      <p:sp>
        <p:nvSpPr>
          <p:cNvPr id="8" name="Text 6"/>
          <p:cNvSpPr/>
          <p:nvPr/>
        </p:nvSpPr>
        <p:spPr>
          <a:xfrm>
            <a:off x="1078992" y="914400"/>
            <a:ext cx="4297680" cy="29260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Verify Cost Estimates</a:t>
            </a:r>
            <a:endParaRPr lang="en-US" sz="1300" dirty="0"/>
          </a:p>
        </p:txBody>
      </p:sp>
      <p:sp>
        <p:nvSpPr>
          <p:cNvPr id="9" name="Text 7"/>
          <p:cNvSpPr/>
          <p:nvPr/>
        </p:nvSpPr>
        <p:spPr>
          <a:xfrm>
            <a:off x="1078992" y="1207008"/>
            <a:ext cx="4297680" cy="694944"/>
          </a:xfrm>
          <a:prstGeom prst="rect">
            <a:avLst/>
          </a:prstGeom>
          <a:noFill/>
          <a:ln/>
        </p:spPr>
        <p:txBody>
          <a:bodyPr wrap="square" rtlCol="0" anchor="t"/>
          <a:lstStyle/>
          <a:p>
            <a:pPr indent="0" marL="0">
              <a:buNone/>
            </a:pPr>
            <a:r>
              <a:rPr lang="en-US" sz="1000" dirty="0">
                <a:solidFill>
                  <a:srgbClr val="BDD4E7"/>
                </a:solidFill>
                <a:latin typeface="Trebuchet MS" pitchFamily="34" charset="0"/>
                <a:ea typeface="Trebuchet MS" pitchFamily="34" charset="-122"/>
                <a:cs typeface="Trebuchet MS" pitchFamily="34" charset="-120"/>
              </a:rPr>
              <a:t>Get actual quotes from 23XI Racing and RFK Racing. Our efficiency model recalculates immediately with real figures — the framework is ready.</a:t>
            </a:r>
            <a:endParaRPr lang="en-US" sz="1000" dirty="0"/>
          </a:p>
        </p:txBody>
      </p:sp>
      <p:sp>
        <p:nvSpPr>
          <p:cNvPr id="10" name="Shape 8"/>
          <p:cNvSpPr/>
          <p:nvPr/>
        </p:nvSpPr>
        <p:spPr>
          <a:xfrm>
            <a:off x="411480" y="2029968"/>
            <a:ext cx="530352" cy="530352"/>
          </a:xfrm>
          <a:prstGeom prst="ellipse">
            <a:avLst/>
          </a:prstGeom>
          <a:solidFill>
            <a:srgbClr val="F4A700"/>
          </a:solidFill>
          <a:ln/>
        </p:spPr>
      </p:sp>
      <p:sp>
        <p:nvSpPr>
          <p:cNvPr id="11" name="Text 9"/>
          <p:cNvSpPr/>
          <p:nvPr/>
        </p:nvSpPr>
        <p:spPr>
          <a:xfrm>
            <a:off x="411480" y="2029968"/>
            <a:ext cx="530352" cy="530352"/>
          </a:xfrm>
          <a:prstGeom prst="rect">
            <a:avLst/>
          </a:prstGeom>
          <a:noFill/>
          <a:ln/>
        </p:spPr>
        <p:txBody>
          <a:bodyPr wrap="square" rtlCol="0" anchor="ctr"/>
          <a:lstStyle/>
          <a:p>
            <a:pPr algn="ctr" indent="0" marL="0">
              <a:buNone/>
            </a:pPr>
            <a:r>
              <a:rPr lang="en-US" sz="1800" b="1" dirty="0">
                <a:solidFill>
                  <a:srgbClr val="1B3A5C"/>
                </a:solidFill>
                <a:latin typeface="Arial Black" pitchFamily="34" charset="0"/>
                <a:ea typeface="Arial Black" pitchFamily="34" charset="-122"/>
                <a:cs typeface="Arial Black" pitchFamily="34" charset="-120"/>
              </a:rPr>
              <a:t>2</a:t>
            </a:r>
            <a:endParaRPr lang="en-US" sz="1800" dirty="0"/>
          </a:p>
        </p:txBody>
      </p:sp>
      <p:sp>
        <p:nvSpPr>
          <p:cNvPr id="12" name="Text 10"/>
          <p:cNvSpPr/>
          <p:nvPr/>
        </p:nvSpPr>
        <p:spPr>
          <a:xfrm>
            <a:off x="1078992" y="2029968"/>
            <a:ext cx="4297680" cy="29260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Validate Races 20–28</a:t>
            </a:r>
            <a:endParaRPr lang="en-US" sz="1300" dirty="0"/>
          </a:p>
        </p:txBody>
      </p:sp>
      <p:sp>
        <p:nvSpPr>
          <p:cNvPr id="13" name="Text 11"/>
          <p:cNvSpPr/>
          <p:nvPr/>
        </p:nvSpPr>
        <p:spPr>
          <a:xfrm>
            <a:off x="1078992" y="2322576"/>
            <a:ext cx="4297680" cy="694944"/>
          </a:xfrm>
          <a:prstGeom prst="rect">
            <a:avLst/>
          </a:prstGeom>
          <a:noFill/>
          <a:ln/>
        </p:spPr>
        <p:txBody>
          <a:bodyPr wrap="square" rtlCol="0" anchor="t"/>
          <a:lstStyle/>
          <a:p>
            <a:pPr indent="0" marL="0">
              <a:buNone/>
            </a:pPr>
            <a:r>
              <a:rPr lang="en-US" sz="1000" dirty="0">
                <a:solidFill>
                  <a:srgbClr val="BDD4E7"/>
                </a:solidFill>
                <a:latin typeface="Trebuchet MS" pitchFamily="34" charset="0"/>
                <a:ea typeface="Trebuchet MS" pitchFamily="34" charset="-122"/>
                <a:cs typeface="Trebuchet MS" pitchFamily="34" charset="-120"/>
              </a:rPr>
              <a:t>Review Monster Energy's data during the 23XI charter dispute period. Identify any anomalies before finalising the primary recommendation.</a:t>
            </a:r>
            <a:endParaRPr lang="en-US" sz="1000" dirty="0"/>
          </a:p>
        </p:txBody>
      </p:sp>
      <p:sp>
        <p:nvSpPr>
          <p:cNvPr id="14" name="Shape 12"/>
          <p:cNvSpPr/>
          <p:nvPr/>
        </p:nvSpPr>
        <p:spPr>
          <a:xfrm>
            <a:off x="411480" y="3145536"/>
            <a:ext cx="530352" cy="530352"/>
          </a:xfrm>
          <a:prstGeom prst="ellipse">
            <a:avLst/>
          </a:prstGeom>
          <a:solidFill>
            <a:srgbClr val="F4A700"/>
          </a:solidFill>
          <a:ln/>
        </p:spPr>
      </p:sp>
      <p:sp>
        <p:nvSpPr>
          <p:cNvPr id="15" name="Text 13"/>
          <p:cNvSpPr/>
          <p:nvPr/>
        </p:nvSpPr>
        <p:spPr>
          <a:xfrm>
            <a:off x="411480" y="3145536"/>
            <a:ext cx="530352" cy="530352"/>
          </a:xfrm>
          <a:prstGeom prst="rect">
            <a:avLst/>
          </a:prstGeom>
          <a:noFill/>
          <a:ln/>
        </p:spPr>
        <p:txBody>
          <a:bodyPr wrap="square" rtlCol="0" anchor="ctr"/>
          <a:lstStyle/>
          <a:p>
            <a:pPr algn="ctr" indent="0" marL="0">
              <a:buNone/>
            </a:pPr>
            <a:r>
              <a:rPr lang="en-US" sz="1800" b="1" dirty="0">
                <a:solidFill>
                  <a:srgbClr val="1B3A5C"/>
                </a:solidFill>
                <a:latin typeface="Arial Black" pitchFamily="34" charset="0"/>
                <a:ea typeface="Arial Black" pitchFamily="34" charset="-122"/>
                <a:cs typeface="Arial Black" pitchFamily="34" charset="-120"/>
              </a:rPr>
              <a:t>3</a:t>
            </a:r>
            <a:endParaRPr lang="en-US" sz="1800" dirty="0"/>
          </a:p>
        </p:txBody>
      </p:sp>
      <p:sp>
        <p:nvSpPr>
          <p:cNvPr id="16" name="Text 14"/>
          <p:cNvSpPr/>
          <p:nvPr/>
        </p:nvSpPr>
        <p:spPr>
          <a:xfrm>
            <a:off x="1078992" y="3145536"/>
            <a:ext cx="4297680" cy="29260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Share This Framework</a:t>
            </a:r>
            <a:endParaRPr lang="en-US" sz="1300" dirty="0"/>
          </a:p>
        </p:txBody>
      </p:sp>
      <p:sp>
        <p:nvSpPr>
          <p:cNvPr id="17" name="Text 15"/>
          <p:cNvSpPr/>
          <p:nvPr/>
        </p:nvSpPr>
        <p:spPr>
          <a:xfrm>
            <a:off x="1078992" y="3438144"/>
            <a:ext cx="4297680" cy="694944"/>
          </a:xfrm>
          <a:prstGeom prst="rect">
            <a:avLst/>
          </a:prstGeom>
          <a:noFill/>
          <a:ln/>
        </p:spPr>
        <p:txBody>
          <a:bodyPr wrap="square" rtlCol="0" anchor="t"/>
          <a:lstStyle/>
          <a:p>
            <a:pPr indent="0" marL="0">
              <a:buNone/>
            </a:pPr>
            <a:r>
              <a:rPr lang="en-US" sz="1000" dirty="0">
                <a:solidFill>
                  <a:srgbClr val="BDD4E7"/>
                </a:solidFill>
                <a:latin typeface="Trebuchet MS" pitchFamily="34" charset="0"/>
                <a:ea typeface="Trebuchet MS" pitchFamily="34" charset="-122"/>
                <a:cs typeface="Trebuchet MS" pitchFamily="34" charset="-120"/>
              </a:rPr>
              <a:t>The model is reusable. Any new sponsor can be scored with the same methodology. These rankings are one season — the framework is forever.</a:t>
            </a:r>
            <a:endParaRPr lang="en-US" sz="1000" dirty="0"/>
          </a:p>
        </p:txBody>
      </p:sp>
      <p:sp>
        <p:nvSpPr>
          <p:cNvPr id="18" name="Shape 16"/>
          <p:cNvSpPr/>
          <p:nvPr/>
        </p:nvSpPr>
        <p:spPr>
          <a:xfrm>
            <a:off x="5623560" y="914400"/>
            <a:ext cx="3108960" cy="2423160"/>
          </a:xfrm>
          <a:prstGeom prst="rect">
            <a:avLst/>
          </a:prstGeom>
          <a:solidFill>
            <a:srgbClr val="0D1B2A"/>
          </a:solidFill>
          <a:ln w="19050">
            <a:solidFill>
              <a:srgbClr val="26A69A"/>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5623560" y="914400"/>
            <a:ext cx="3108960" cy="54864"/>
          </a:xfrm>
          <a:prstGeom prst="rect">
            <a:avLst/>
          </a:prstGeom>
          <a:solidFill>
            <a:srgbClr val="26A69A"/>
          </a:solidFill>
          <a:ln/>
        </p:spPr>
      </p:sp>
      <p:sp>
        <p:nvSpPr>
          <p:cNvPr id="20" name="Text 18"/>
          <p:cNvSpPr/>
          <p:nvPr/>
        </p:nvSpPr>
        <p:spPr>
          <a:xfrm>
            <a:off x="5715000" y="1005840"/>
            <a:ext cx="2926080" cy="274320"/>
          </a:xfrm>
          <a:prstGeom prst="rect">
            <a:avLst/>
          </a:prstGeom>
          <a:noFill/>
          <a:ln/>
        </p:spPr>
        <p:txBody>
          <a:bodyPr wrap="square" rtlCol="0" anchor="ctr"/>
          <a:lstStyle/>
          <a:p>
            <a:pPr algn="ctr" indent="0" marL="0">
              <a:buNone/>
            </a:pPr>
            <a:r>
              <a:rPr lang="en-US" sz="800" b="1" spc="100" kern="0" dirty="0">
                <a:solidFill>
                  <a:srgbClr val="26A69A"/>
                </a:solidFill>
                <a:latin typeface="Trebuchet MS" pitchFamily="34" charset="0"/>
                <a:ea typeface="Trebuchet MS" pitchFamily="34" charset="-122"/>
                <a:cs typeface="Trebuchet MS" pitchFamily="34" charset="-120"/>
              </a:rPr>
              <a:t>OPEN QUESTIONS FOR NY RACING</a:t>
            </a:r>
            <a:endParaRPr lang="en-US" sz="800" dirty="0"/>
          </a:p>
        </p:txBody>
      </p:sp>
      <p:sp>
        <p:nvSpPr>
          <p:cNvPr id="21" name="Shape 19"/>
          <p:cNvSpPr/>
          <p:nvPr/>
        </p:nvSpPr>
        <p:spPr>
          <a:xfrm>
            <a:off x="5715000" y="1444752"/>
            <a:ext cx="54864" cy="384048"/>
          </a:xfrm>
          <a:prstGeom prst="rect">
            <a:avLst/>
          </a:prstGeom>
          <a:solidFill>
            <a:srgbClr val="F4A700"/>
          </a:solidFill>
          <a:ln/>
        </p:spPr>
      </p:sp>
      <p:sp>
        <p:nvSpPr>
          <p:cNvPr id="22" name="Text 20"/>
          <p:cNvSpPr/>
          <p:nvPr/>
        </p:nvSpPr>
        <p:spPr>
          <a:xfrm>
            <a:off x="5852160" y="1408176"/>
            <a:ext cx="2761488" cy="457200"/>
          </a:xfrm>
          <a:prstGeom prst="rect">
            <a:avLst/>
          </a:prstGeom>
          <a:noFill/>
          <a:ln/>
        </p:spPr>
        <p:txBody>
          <a:bodyPr wrap="square" rtlCol="0" anchor="ctr"/>
          <a:lstStyle/>
          <a:p>
            <a:pPr indent="0" marL="0">
              <a:buNone/>
            </a:pPr>
            <a:r>
              <a:rPr lang="en-US" sz="1000" dirty="0">
                <a:solidFill>
                  <a:srgbClr val="FFFFFF"/>
                </a:solidFill>
                <a:latin typeface="Trebuchet MS" pitchFamily="34" charset="0"/>
                <a:ea typeface="Trebuchet MS" pitchFamily="34" charset="-122"/>
                <a:cs typeface="Trebuchet MS" pitchFamily="34" charset="-120"/>
              </a:rPr>
              <a:t>What is the realistic budget ceiling for 2026?</a:t>
            </a:r>
            <a:endParaRPr lang="en-US" sz="1000" dirty="0"/>
          </a:p>
        </p:txBody>
      </p:sp>
      <p:sp>
        <p:nvSpPr>
          <p:cNvPr id="23" name="Shape 21"/>
          <p:cNvSpPr/>
          <p:nvPr/>
        </p:nvSpPr>
        <p:spPr>
          <a:xfrm>
            <a:off x="5715000" y="2066544"/>
            <a:ext cx="54864" cy="384048"/>
          </a:xfrm>
          <a:prstGeom prst="rect">
            <a:avLst/>
          </a:prstGeom>
          <a:solidFill>
            <a:srgbClr val="F4A700"/>
          </a:solidFill>
          <a:ln/>
        </p:spPr>
      </p:sp>
      <p:sp>
        <p:nvSpPr>
          <p:cNvPr id="24" name="Text 22"/>
          <p:cNvSpPr/>
          <p:nvPr/>
        </p:nvSpPr>
        <p:spPr>
          <a:xfrm>
            <a:off x="5852160" y="2029968"/>
            <a:ext cx="2761488" cy="457200"/>
          </a:xfrm>
          <a:prstGeom prst="rect">
            <a:avLst/>
          </a:prstGeom>
          <a:noFill/>
          <a:ln/>
        </p:spPr>
        <p:txBody>
          <a:bodyPr wrap="square" rtlCol="0" anchor="ctr"/>
          <a:lstStyle/>
          <a:p>
            <a:pPr indent="0" marL="0">
              <a:buNone/>
            </a:pPr>
            <a:r>
              <a:rPr lang="en-US" sz="1000" dirty="0">
                <a:solidFill>
                  <a:srgbClr val="FFFFFF"/>
                </a:solidFill>
                <a:latin typeface="Trebuchet MS" pitchFamily="34" charset="0"/>
                <a:ea typeface="Trebuchet MS" pitchFamily="34" charset="-122"/>
                <a:cs typeface="Trebuchet MS" pitchFamily="34" charset="-120"/>
              </a:rPr>
              <a:t>Is efficiency or absolute visibility the board's primary mandate?</a:t>
            </a:r>
            <a:endParaRPr lang="en-US" sz="1000" dirty="0"/>
          </a:p>
        </p:txBody>
      </p:sp>
      <p:sp>
        <p:nvSpPr>
          <p:cNvPr id="25" name="Shape 23"/>
          <p:cNvSpPr/>
          <p:nvPr/>
        </p:nvSpPr>
        <p:spPr>
          <a:xfrm>
            <a:off x="5715000" y="2688336"/>
            <a:ext cx="54864" cy="384048"/>
          </a:xfrm>
          <a:prstGeom prst="rect">
            <a:avLst/>
          </a:prstGeom>
          <a:solidFill>
            <a:srgbClr val="F4A700"/>
          </a:solidFill>
          <a:ln/>
        </p:spPr>
      </p:sp>
      <p:sp>
        <p:nvSpPr>
          <p:cNvPr id="26" name="Text 24"/>
          <p:cNvSpPr/>
          <p:nvPr/>
        </p:nvSpPr>
        <p:spPr>
          <a:xfrm>
            <a:off x="5852160" y="2651760"/>
            <a:ext cx="2761488" cy="457200"/>
          </a:xfrm>
          <a:prstGeom prst="rect">
            <a:avLst/>
          </a:prstGeom>
          <a:noFill/>
          <a:ln/>
        </p:spPr>
        <p:txBody>
          <a:bodyPr wrap="square" rtlCol="0" anchor="ctr"/>
          <a:lstStyle/>
          <a:p>
            <a:pPr indent="0" marL="0">
              <a:buNone/>
            </a:pPr>
            <a:r>
              <a:rPr lang="en-US" sz="1000" dirty="0">
                <a:solidFill>
                  <a:srgbClr val="FFFFFF"/>
                </a:solidFill>
                <a:latin typeface="Trebuchet MS" pitchFamily="34" charset="0"/>
                <a:ea typeface="Trebuchet MS" pitchFamily="34" charset="-122"/>
                <a:cs typeface="Trebuchet MS" pitchFamily="34" charset="-120"/>
              </a:rPr>
              <a:t>Are there relationship factors with any of these sponsors not captured in the data?</a:t>
            </a:r>
            <a:endParaRPr lang="en-US" sz="1000" dirty="0"/>
          </a:p>
        </p:txBody>
      </p:sp>
      <p:sp>
        <p:nvSpPr>
          <p:cNvPr id="27" name="Shape 25"/>
          <p:cNvSpPr/>
          <p:nvPr/>
        </p:nvSpPr>
        <p:spPr>
          <a:xfrm>
            <a:off x="0" y="4288536"/>
            <a:ext cx="9144000" cy="854964"/>
          </a:xfrm>
          <a:prstGeom prst="rect">
            <a:avLst/>
          </a:prstGeom>
          <a:solidFill>
            <a:srgbClr val="F4A700"/>
          </a:solidFill>
          <a:ln/>
        </p:spPr>
      </p:sp>
      <p:sp>
        <p:nvSpPr>
          <p:cNvPr id="28" name="Text 26"/>
          <p:cNvSpPr/>
          <p:nvPr/>
        </p:nvSpPr>
        <p:spPr>
          <a:xfrm>
            <a:off x="411480" y="4315968"/>
            <a:ext cx="8321040" cy="566928"/>
          </a:xfrm>
          <a:prstGeom prst="rect">
            <a:avLst/>
          </a:prstGeom>
          <a:noFill/>
          <a:ln/>
        </p:spPr>
        <p:txBody>
          <a:bodyPr wrap="square" rtlCol="0" anchor="ctr"/>
          <a:lstStyle/>
          <a:p>
            <a:pPr algn="ctr" indent="0" marL="0">
              <a:buNone/>
            </a:pPr>
            <a:r>
              <a:rPr lang="en-US" sz="1300" b="1" i="1" dirty="0">
                <a:solidFill>
                  <a:srgbClr val="1B3A5C"/>
                </a:solidFill>
                <a:latin typeface="Trebuchet MS" pitchFamily="34" charset="0"/>
                <a:ea typeface="Trebuchet MS" pitchFamily="34" charset="-122"/>
                <a:cs typeface="Trebuchet MS" pitchFamily="34" charset="-120"/>
              </a:rPr>
              <a:t>"The methodology is the real asset. These rankings are one season. The framework is forever."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NASCAR Sponsorship Visibility Analysis</dc:title>
  <dc:subject>PptxGenJS Presentation</dc:subject>
  <dc:creator>Anshul Ghildiyal</dc:creator>
  <cp:lastModifiedBy>Anshul Ghildiyal</cp:lastModifiedBy>
  <cp:revision>1</cp:revision>
  <dcterms:created xsi:type="dcterms:W3CDTF">2026-04-22T09:59:38Z</dcterms:created>
  <dcterms:modified xsi:type="dcterms:W3CDTF">2026-04-22T09:59:38Z</dcterms:modified>
</cp:coreProperties>
</file>